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1" r:id="rId2"/>
    <p:sldId id="266" r:id="rId3"/>
    <p:sldId id="265" r:id="rId4"/>
    <p:sldId id="264" r:id="rId5"/>
    <p:sldId id="268" r:id="rId6"/>
    <p:sldId id="280" r:id="rId7"/>
    <p:sldId id="269" r:id="rId8"/>
    <p:sldId id="271" r:id="rId9"/>
    <p:sldId id="273" r:id="rId10"/>
    <p:sldId id="278" r:id="rId11"/>
    <p:sldId id="261" r:id="rId12"/>
    <p:sldId id="270" r:id="rId13"/>
    <p:sldId id="263" r:id="rId14"/>
    <p:sldId id="274" r:id="rId15"/>
    <p:sldId id="276" r:id="rId16"/>
    <p:sldId id="275" r:id="rId17"/>
    <p:sldId id="277" r:id="rId18"/>
    <p:sldId id="28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34B18-6E0F-F0A8-2F3C-48F4A33D88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28427B-64F9-3651-7D7B-342EE0DCE7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29AE2F-BEC2-3736-607F-6AFF0C1830ED}"/>
              </a:ext>
            </a:extLst>
          </p:cNvPr>
          <p:cNvSpPr>
            <a:spLocks noGrp="1"/>
          </p:cNvSpPr>
          <p:nvPr>
            <p:ph type="dt" sz="half" idx="10"/>
          </p:nvPr>
        </p:nvSpPr>
        <p:spPr/>
        <p:txBody>
          <a:bodyPr/>
          <a:lstStyle/>
          <a:p>
            <a:fld id="{400E0BFF-DEF3-4B87-BC74-06C80A7F4EA4}" type="datetimeFigureOut">
              <a:rPr lang="en-US" smtClean="0"/>
              <a:t>7/7/2026</a:t>
            </a:fld>
            <a:endParaRPr lang="en-US"/>
          </a:p>
        </p:txBody>
      </p:sp>
      <p:sp>
        <p:nvSpPr>
          <p:cNvPr id="5" name="Footer Placeholder 4">
            <a:extLst>
              <a:ext uri="{FF2B5EF4-FFF2-40B4-BE49-F238E27FC236}">
                <a16:creationId xmlns:a16="http://schemas.microsoft.com/office/drawing/2014/main" id="{02F78B5A-ED7F-E781-AFDF-54CD09E59A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5A1005-F8C3-41B9-5F4D-9D2A7EF6B04D}"/>
              </a:ext>
            </a:extLst>
          </p:cNvPr>
          <p:cNvSpPr>
            <a:spLocks noGrp="1"/>
          </p:cNvSpPr>
          <p:nvPr>
            <p:ph type="sldNum" sz="quarter" idx="12"/>
          </p:nvPr>
        </p:nvSpPr>
        <p:spPr/>
        <p:txBody>
          <a:bodyPr/>
          <a:lstStyle/>
          <a:p>
            <a:fld id="{BFB35D23-55E2-4923-95B0-FC2CA95CF9FE}" type="slidenum">
              <a:rPr lang="en-US" smtClean="0"/>
              <a:t>‹#›</a:t>
            </a:fld>
            <a:endParaRPr lang="en-US"/>
          </a:p>
        </p:txBody>
      </p:sp>
    </p:spTree>
    <p:extLst>
      <p:ext uri="{BB962C8B-B14F-4D97-AF65-F5344CB8AC3E}">
        <p14:creationId xmlns:p14="http://schemas.microsoft.com/office/powerpoint/2010/main" val="3565706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22851-2285-130C-87E3-783FC793BC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27E956-D2B8-A329-D194-DD35F91A0E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A43498-5063-5846-D5EF-B2CA5F12F0E3}"/>
              </a:ext>
            </a:extLst>
          </p:cNvPr>
          <p:cNvSpPr>
            <a:spLocks noGrp="1"/>
          </p:cNvSpPr>
          <p:nvPr>
            <p:ph type="dt" sz="half" idx="10"/>
          </p:nvPr>
        </p:nvSpPr>
        <p:spPr/>
        <p:txBody>
          <a:bodyPr/>
          <a:lstStyle/>
          <a:p>
            <a:fld id="{400E0BFF-DEF3-4B87-BC74-06C80A7F4EA4}" type="datetimeFigureOut">
              <a:rPr lang="en-US" smtClean="0"/>
              <a:t>7/7/2026</a:t>
            </a:fld>
            <a:endParaRPr lang="en-US"/>
          </a:p>
        </p:txBody>
      </p:sp>
      <p:sp>
        <p:nvSpPr>
          <p:cNvPr id="5" name="Footer Placeholder 4">
            <a:extLst>
              <a:ext uri="{FF2B5EF4-FFF2-40B4-BE49-F238E27FC236}">
                <a16:creationId xmlns:a16="http://schemas.microsoft.com/office/drawing/2014/main" id="{D74C941E-653E-120A-E8EF-F4DD97D81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2AE584-49A8-2DE3-647D-3A9E422599C2}"/>
              </a:ext>
            </a:extLst>
          </p:cNvPr>
          <p:cNvSpPr>
            <a:spLocks noGrp="1"/>
          </p:cNvSpPr>
          <p:nvPr>
            <p:ph type="sldNum" sz="quarter" idx="12"/>
          </p:nvPr>
        </p:nvSpPr>
        <p:spPr/>
        <p:txBody>
          <a:bodyPr/>
          <a:lstStyle/>
          <a:p>
            <a:fld id="{BFB35D23-55E2-4923-95B0-FC2CA95CF9FE}" type="slidenum">
              <a:rPr lang="en-US" smtClean="0"/>
              <a:t>‹#›</a:t>
            </a:fld>
            <a:endParaRPr lang="en-US"/>
          </a:p>
        </p:txBody>
      </p:sp>
    </p:spTree>
    <p:extLst>
      <p:ext uri="{BB962C8B-B14F-4D97-AF65-F5344CB8AC3E}">
        <p14:creationId xmlns:p14="http://schemas.microsoft.com/office/powerpoint/2010/main" val="172914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0E387-F0A7-30D8-5BD1-5C4308ED81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D053D5-6457-EA9C-AF37-22D0AF9231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0667B1-43DB-2AB2-E089-24DFE41A6742}"/>
              </a:ext>
            </a:extLst>
          </p:cNvPr>
          <p:cNvSpPr>
            <a:spLocks noGrp="1"/>
          </p:cNvSpPr>
          <p:nvPr>
            <p:ph type="dt" sz="half" idx="10"/>
          </p:nvPr>
        </p:nvSpPr>
        <p:spPr/>
        <p:txBody>
          <a:bodyPr/>
          <a:lstStyle/>
          <a:p>
            <a:fld id="{400E0BFF-DEF3-4B87-BC74-06C80A7F4EA4}" type="datetimeFigureOut">
              <a:rPr lang="en-US" smtClean="0"/>
              <a:t>7/7/2026</a:t>
            </a:fld>
            <a:endParaRPr lang="en-US"/>
          </a:p>
        </p:txBody>
      </p:sp>
      <p:sp>
        <p:nvSpPr>
          <p:cNvPr id="5" name="Footer Placeholder 4">
            <a:extLst>
              <a:ext uri="{FF2B5EF4-FFF2-40B4-BE49-F238E27FC236}">
                <a16:creationId xmlns:a16="http://schemas.microsoft.com/office/drawing/2014/main" id="{69A75706-34A1-1B23-35AC-D0B64A254A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656A30-4115-EB76-C079-ABE37FCAA1DE}"/>
              </a:ext>
            </a:extLst>
          </p:cNvPr>
          <p:cNvSpPr>
            <a:spLocks noGrp="1"/>
          </p:cNvSpPr>
          <p:nvPr>
            <p:ph type="sldNum" sz="quarter" idx="12"/>
          </p:nvPr>
        </p:nvSpPr>
        <p:spPr/>
        <p:txBody>
          <a:bodyPr/>
          <a:lstStyle/>
          <a:p>
            <a:fld id="{BFB35D23-55E2-4923-95B0-FC2CA95CF9FE}" type="slidenum">
              <a:rPr lang="en-US" smtClean="0"/>
              <a:t>‹#›</a:t>
            </a:fld>
            <a:endParaRPr lang="en-US"/>
          </a:p>
        </p:txBody>
      </p:sp>
    </p:spTree>
    <p:extLst>
      <p:ext uri="{BB962C8B-B14F-4D97-AF65-F5344CB8AC3E}">
        <p14:creationId xmlns:p14="http://schemas.microsoft.com/office/powerpoint/2010/main" val="1332149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A31F7-C16C-251A-88F4-CA9D269D6A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C01E15-234D-9FDD-4B76-F9D957DF0D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967714-1A23-921B-24C8-D7CE621F97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711C8D-E1CD-27B1-88EE-BAF864C85D91}"/>
              </a:ext>
            </a:extLst>
          </p:cNvPr>
          <p:cNvSpPr>
            <a:spLocks noGrp="1"/>
          </p:cNvSpPr>
          <p:nvPr>
            <p:ph type="dt" sz="half" idx="10"/>
          </p:nvPr>
        </p:nvSpPr>
        <p:spPr/>
        <p:txBody>
          <a:bodyPr/>
          <a:lstStyle/>
          <a:p>
            <a:fld id="{400E0BFF-DEF3-4B87-BC74-06C80A7F4EA4}" type="datetimeFigureOut">
              <a:rPr lang="en-US" smtClean="0"/>
              <a:t>7/7/2026</a:t>
            </a:fld>
            <a:endParaRPr lang="en-US"/>
          </a:p>
        </p:txBody>
      </p:sp>
      <p:sp>
        <p:nvSpPr>
          <p:cNvPr id="6" name="Footer Placeholder 5">
            <a:extLst>
              <a:ext uri="{FF2B5EF4-FFF2-40B4-BE49-F238E27FC236}">
                <a16:creationId xmlns:a16="http://schemas.microsoft.com/office/drawing/2014/main" id="{71611728-D463-A86B-A22E-B787A07027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477080-7FF3-A162-7244-0597C1FFFA45}"/>
              </a:ext>
            </a:extLst>
          </p:cNvPr>
          <p:cNvSpPr>
            <a:spLocks noGrp="1"/>
          </p:cNvSpPr>
          <p:nvPr>
            <p:ph type="sldNum" sz="quarter" idx="12"/>
          </p:nvPr>
        </p:nvSpPr>
        <p:spPr/>
        <p:txBody>
          <a:bodyPr/>
          <a:lstStyle/>
          <a:p>
            <a:fld id="{BFB35D23-55E2-4923-95B0-FC2CA95CF9FE}" type="slidenum">
              <a:rPr lang="en-US" smtClean="0"/>
              <a:t>‹#›</a:t>
            </a:fld>
            <a:endParaRPr lang="en-US"/>
          </a:p>
        </p:txBody>
      </p:sp>
    </p:spTree>
    <p:extLst>
      <p:ext uri="{BB962C8B-B14F-4D97-AF65-F5344CB8AC3E}">
        <p14:creationId xmlns:p14="http://schemas.microsoft.com/office/powerpoint/2010/main" val="1609977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B462-74D5-B93B-AE5B-4DAD9D38A0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02A460-0E39-8BC5-4E47-996FC50F8A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B33798-85C4-8A52-CCFE-E6C13E4FA1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D92891-B677-21E7-A0D3-2AB1B868BA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201BC4-F219-526E-4BBE-0D0341E684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C47AA0-28D0-59EF-CB78-38B778A1032D}"/>
              </a:ext>
            </a:extLst>
          </p:cNvPr>
          <p:cNvSpPr>
            <a:spLocks noGrp="1"/>
          </p:cNvSpPr>
          <p:nvPr>
            <p:ph type="dt" sz="half" idx="10"/>
          </p:nvPr>
        </p:nvSpPr>
        <p:spPr/>
        <p:txBody>
          <a:bodyPr/>
          <a:lstStyle/>
          <a:p>
            <a:fld id="{400E0BFF-DEF3-4B87-BC74-06C80A7F4EA4}" type="datetimeFigureOut">
              <a:rPr lang="en-US" smtClean="0"/>
              <a:t>7/7/2026</a:t>
            </a:fld>
            <a:endParaRPr lang="en-US"/>
          </a:p>
        </p:txBody>
      </p:sp>
      <p:sp>
        <p:nvSpPr>
          <p:cNvPr id="8" name="Footer Placeholder 7">
            <a:extLst>
              <a:ext uri="{FF2B5EF4-FFF2-40B4-BE49-F238E27FC236}">
                <a16:creationId xmlns:a16="http://schemas.microsoft.com/office/drawing/2014/main" id="{E12E2D82-53B1-E5C4-9D89-2D485C78D3D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5056B6-EBB6-0260-D857-7F46CD249779}"/>
              </a:ext>
            </a:extLst>
          </p:cNvPr>
          <p:cNvSpPr>
            <a:spLocks noGrp="1"/>
          </p:cNvSpPr>
          <p:nvPr>
            <p:ph type="sldNum" sz="quarter" idx="12"/>
          </p:nvPr>
        </p:nvSpPr>
        <p:spPr/>
        <p:txBody>
          <a:bodyPr/>
          <a:lstStyle/>
          <a:p>
            <a:fld id="{BFB35D23-55E2-4923-95B0-FC2CA95CF9FE}" type="slidenum">
              <a:rPr lang="en-US" smtClean="0"/>
              <a:t>‹#›</a:t>
            </a:fld>
            <a:endParaRPr lang="en-US"/>
          </a:p>
        </p:txBody>
      </p:sp>
    </p:spTree>
    <p:extLst>
      <p:ext uri="{BB962C8B-B14F-4D97-AF65-F5344CB8AC3E}">
        <p14:creationId xmlns:p14="http://schemas.microsoft.com/office/powerpoint/2010/main" val="4117713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2E87E-765E-6592-E3F7-B08E8388CA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6CFF5E-D08A-3854-83A3-1A081CE0DD80}"/>
              </a:ext>
            </a:extLst>
          </p:cNvPr>
          <p:cNvSpPr>
            <a:spLocks noGrp="1"/>
          </p:cNvSpPr>
          <p:nvPr>
            <p:ph type="dt" sz="half" idx="10"/>
          </p:nvPr>
        </p:nvSpPr>
        <p:spPr/>
        <p:txBody>
          <a:bodyPr/>
          <a:lstStyle/>
          <a:p>
            <a:fld id="{400E0BFF-DEF3-4B87-BC74-06C80A7F4EA4}" type="datetimeFigureOut">
              <a:rPr lang="en-US" smtClean="0"/>
              <a:t>7/7/2026</a:t>
            </a:fld>
            <a:endParaRPr lang="en-US"/>
          </a:p>
        </p:txBody>
      </p:sp>
      <p:sp>
        <p:nvSpPr>
          <p:cNvPr id="4" name="Footer Placeholder 3">
            <a:extLst>
              <a:ext uri="{FF2B5EF4-FFF2-40B4-BE49-F238E27FC236}">
                <a16:creationId xmlns:a16="http://schemas.microsoft.com/office/drawing/2014/main" id="{C0AA25FE-BE32-3FE2-10A8-3F291D06F2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85BA5B-C17C-6C05-851D-F64C5943D1A8}"/>
              </a:ext>
            </a:extLst>
          </p:cNvPr>
          <p:cNvSpPr>
            <a:spLocks noGrp="1"/>
          </p:cNvSpPr>
          <p:nvPr>
            <p:ph type="sldNum" sz="quarter" idx="12"/>
          </p:nvPr>
        </p:nvSpPr>
        <p:spPr/>
        <p:txBody>
          <a:bodyPr/>
          <a:lstStyle/>
          <a:p>
            <a:fld id="{BFB35D23-55E2-4923-95B0-FC2CA95CF9FE}" type="slidenum">
              <a:rPr lang="en-US" smtClean="0"/>
              <a:t>‹#›</a:t>
            </a:fld>
            <a:endParaRPr lang="en-US"/>
          </a:p>
        </p:txBody>
      </p:sp>
    </p:spTree>
    <p:extLst>
      <p:ext uri="{BB962C8B-B14F-4D97-AF65-F5344CB8AC3E}">
        <p14:creationId xmlns:p14="http://schemas.microsoft.com/office/powerpoint/2010/main" val="97249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823F89-71DE-B48C-98A6-291C020981DC}"/>
              </a:ext>
            </a:extLst>
          </p:cNvPr>
          <p:cNvSpPr>
            <a:spLocks noGrp="1"/>
          </p:cNvSpPr>
          <p:nvPr>
            <p:ph type="dt" sz="half" idx="10"/>
          </p:nvPr>
        </p:nvSpPr>
        <p:spPr/>
        <p:txBody>
          <a:bodyPr/>
          <a:lstStyle/>
          <a:p>
            <a:fld id="{400E0BFF-DEF3-4B87-BC74-06C80A7F4EA4}" type="datetimeFigureOut">
              <a:rPr lang="en-US" smtClean="0"/>
              <a:t>7/7/2026</a:t>
            </a:fld>
            <a:endParaRPr lang="en-US"/>
          </a:p>
        </p:txBody>
      </p:sp>
      <p:sp>
        <p:nvSpPr>
          <p:cNvPr id="3" name="Footer Placeholder 2">
            <a:extLst>
              <a:ext uri="{FF2B5EF4-FFF2-40B4-BE49-F238E27FC236}">
                <a16:creationId xmlns:a16="http://schemas.microsoft.com/office/drawing/2014/main" id="{36694C78-D9BE-1DFD-9EBA-B30AEB1F67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68BD28-5D28-A01E-9A8C-8DC88DA1FEEC}"/>
              </a:ext>
            </a:extLst>
          </p:cNvPr>
          <p:cNvSpPr>
            <a:spLocks noGrp="1"/>
          </p:cNvSpPr>
          <p:nvPr>
            <p:ph type="sldNum" sz="quarter" idx="12"/>
          </p:nvPr>
        </p:nvSpPr>
        <p:spPr/>
        <p:txBody>
          <a:bodyPr/>
          <a:lstStyle/>
          <a:p>
            <a:fld id="{BFB35D23-55E2-4923-95B0-FC2CA95CF9FE}" type="slidenum">
              <a:rPr lang="en-US" smtClean="0"/>
              <a:t>‹#›</a:t>
            </a:fld>
            <a:endParaRPr lang="en-US"/>
          </a:p>
        </p:txBody>
      </p:sp>
    </p:spTree>
    <p:extLst>
      <p:ext uri="{BB962C8B-B14F-4D97-AF65-F5344CB8AC3E}">
        <p14:creationId xmlns:p14="http://schemas.microsoft.com/office/powerpoint/2010/main" val="3797523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A82B8-37F0-0CC1-5ACA-E73EB418D1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7C09F4-9D7B-0E10-AC81-BD20C2ABC8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98E92A-B34C-AAE7-8062-4D55FA04F9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830A57-5827-F477-29BD-3EDB6A16F3ED}"/>
              </a:ext>
            </a:extLst>
          </p:cNvPr>
          <p:cNvSpPr>
            <a:spLocks noGrp="1"/>
          </p:cNvSpPr>
          <p:nvPr>
            <p:ph type="dt" sz="half" idx="10"/>
          </p:nvPr>
        </p:nvSpPr>
        <p:spPr/>
        <p:txBody>
          <a:bodyPr/>
          <a:lstStyle/>
          <a:p>
            <a:fld id="{400E0BFF-DEF3-4B87-BC74-06C80A7F4EA4}" type="datetimeFigureOut">
              <a:rPr lang="en-US" smtClean="0"/>
              <a:t>7/7/2026</a:t>
            </a:fld>
            <a:endParaRPr lang="en-US"/>
          </a:p>
        </p:txBody>
      </p:sp>
      <p:sp>
        <p:nvSpPr>
          <p:cNvPr id="6" name="Footer Placeholder 5">
            <a:extLst>
              <a:ext uri="{FF2B5EF4-FFF2-40B4-BE49-F238E27FC236}">
                <a16:creationId xmlns:a16="http://schemas.microsoft.com/office/drawing/2014/main" id="{49D5EB9F-A715-47F2-BA6F-C329983A25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411C73-1910-900F-7B76-E2EA96947466}"/>
              </a:ext>
            </a:extLst>
          </p:cNvPr>
          <p:cNvSpPr>
            <a:spLocks noGrp="1"/>
          </p:cNvSpPr>
          <p:nvPr>
            <p:ph type="sldNum" sz="quarter" idx="12"/>
          </p:nvPr>
        </p:nvSpPr>
        <p:spPr/>
        <p:txBody>
          <a:bodyPr/>
          <a:lstStyle/>
          <a:p>
            <a:fld id="{BFB35D23-55E2-4923-95B0-FC2CA95CF9FE}" type="slidenum">
              <a:rPr lang="en-US" smtClean="0"/>
              <a:t>‹#›</a:t>
            </a:fld>
            <a:endParaRPr lang="en-US"/>
          </a:p>
        </p:txBody>
      </p:sp>
    </p:spTree>
    <p:extLst>
      <p:ext uri="{BB962C8B-B14F-4D97-AF65-F5344CB8AC3E}">
        <p14:creationId xmlns:p14="http://schemas.microsoft.com/office/powerpoint/2010/main" val="368930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45DD5-12B4-F5CB-D842-2C4FBF1B83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95A143C-D860-6823-3E02-38A3B8C119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6699D6-4887-D003-3753-232E4D34DA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3A92F0-D28B-0A38-8851-1F6CAB0412C9}"/>
              </a:ext>
            </a:extLst>
          </p:cNvPr>
          <p:cNvSpPr>
            <a:spLocks noGrp="1"/>
          </p:cNvSpPr>
          <p:nvPr>
            <p:ph type="dt" sz="half" idx="10"/>
          </p:nvPr>
        </p:nvSpPr>
        <p:spPr/>
        <p:txBody>
          <a:bodyPr/>
          <a:lstStyle/>
          <a:p>
            <a:fld id="{400E0BFF-DEF3-4B87-BC74-06C80A7F4EA4}" type="datetimeFigureOut">
              <a:rPr lang="en-US" smtClean="0"/>
              <a:t>7/7/2026</a:t>
            </a:fld>
            <a:endParaRPr lang="en-US"/>
          </a:p>
        </p:txBody>
      </p:sp>
      <p:sp>
        <p:nvSpPr>
          <p:cNvPr id="6" name="Footer Placeholder 5">
            <a:extLst>
              <a:ext uri="{FF2B5EF4-FFF2-40B4-BE49-F238E27FC236}">
                <a16:creationId xmlns:a16="http://schemas.microsoft.com/office/drawing/2014/main" id="{F96B961A-14B6-6C66-1D7D-ADC9493D0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4BEE11-ACD5-2805-0BD0-0CF001915166}"/>
              </a:ext>
            </a:extLst>
          </p:cNvPr>
          <p:cNvSpPr>
            <a:spLocks noGrp="1"/>
          </p:cNvSpPr>
          <p:nvPr>
            <p:ph type="sldNum" sz="quarter" idx="12"/>
          </p:nvPr>
        </p:nvSpPr>
        <p:spPr/>
        <p:txBody>
          <a:bodyPr/>
          <a:lstStyle/>
          <a:p>
            <a:fld id="{BFB35D23-55E2-4923-95B0-FC2CA95CF9FE}" type="slidenum">
              <a:rPr lang="en-US" smtClean="0"/>
              <a:t>‹#›</a:t>
            </a:fld>
            <a:endParaRPr lang="en-US"/>
          </a:p>
        </p:txBody>
      </p:sp>
    </p:spTree>
    <p:extLst>
      <p:ext uri="{BB962C8B-B14F-4D97-AF65-F5344CB8AC3E}">
        <p14:creationId xmlns:p14="http://schemas.microsoft.com/office/powerpoint/2010/main" val="101612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EFCA9-E754-881C-D522-E4421C7169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541C05-7A9C-FFC6-EDE9-DD49BAEA7E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E5C9A3-3891-6BFD-1DF4-3F823357FC8F}"/>
              </a:ext>
            </a:extLst>
          </p:cNvPr>
          <p:cNvSpPr>
            <a:spLocks noGrp="1"/>
          </p:cNvSpPr>
          <p:nvPr>
            <p:ph type="dt" sz="half" idx="10"/>
          </p:nvPr>
        </p:nvSpPr>
        <p:spPr/>
        <p:txBody>
          <a:bodyPr/>
          <a:lstStyle/>
          <a:p>
            <a:fld id="{400E0BFF-DEF3-4B87-BC74-06C80A7F4EA4}" type="datetimeFigureOut">
              <a:rPr lang="en-US" smtClean="0"/>
              <a:t>7/7/2026</a:t>
            </a:fld>
            <a:endParaRPr lang="en-US"/>
          </a:p>
        </p:txBody>
      </p:sp>
      <p:sp>
        <p:nvSpPr>
          <p:cNvPr id="5" name="Footer Placeholder 4">
            <a:extLst>
              <a:ext uri="{FF2B5EF4-FFF2-40B4-BE49-F238E27FC236}">
                <a16:creationId xmlns:a16="http://schemas.microsoft.com/office/drawing/2014/main" id="{C0E86AE7-6B3C-E044-F9A7-D96C5DB502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AFA438-71E9-8BD5-880F-833E023EBF44}"/>
              </a:ext>
            </a:extLst>
          </p:cNvPr>
          <p:cNvSpPr>
            <a:spLocks noGrp="1"/>
          </p:cNvSpPr>
          <p:nvPr>
            <p:ph type="sldNum" sz="quarter" idx="12"/>
          </p:nvPr>
        </p:nvSpPr>
        <p:spPr/>
        <p:txBody>
          <a:bodyPr/>
          <a:lstStyle/>
          <a:p>
            <a:fld id="{BFB35D23-55E2-4923-95B0-FC2CA95CF9FE}" type="slidenum">
              <a:rPr lang="en-US" smtClean="0"/>
              <a:t>‹#›</a:t>
            </a:fld>
            <a:endParaRPr lang="en-US"/>
          </a:p>
        </p:txBody>
      </p:sp>
    </p:spTree>
    <p:extLst>
      <p:ext uri="{BB962C8B-B14F-4D97-AF65-F5344CB8AC3E}">
        <p14:creationId xmlns:p14="http://schemas.microsoft.com/office/powerpoint/2010/main" val="4171238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D9D01F-E575-B30F-FEDA-660A2B6B7A8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5F45BB-AA6B-9ADF-1791-6EF96FA4D8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641075-000F-7CE2-49D8-40578A9961EF}"/>
              </a:ext>
            </a:extLst>
          </p:cNvPr>
          <p:cNvSpPr>
            <a:spLocks noGrp="1"/>
          </p:cNvSpPr>
          <p:nvPr>
            <p:ph type="dt" sz="half" idx="10"/>
          </p:nvPr>
        </p:nvSpPr>
        <p:spPr/>
        <p:txBody>
          <a:bodyPr/>
          <a:lstStyle/>
          <a:p>
            <a:fld id="{400E0BFF-DEF3-4B87-BC74-06C80A7F4EA4}" type="datetimeFigureOut">
              <a:rPr lang="en-US" smtClean="0"/>
              <a:t>7/7/2026</a:t>
            </a:fld>
            <a:endParaRPr lang="en-US"/>
          </a:p>
        </p:txBody>
      </p:sp>
      <p:sp>
        <p:nvSpPr>
          <p:cNvPr id="5" name="Footer Placeholder 4">
            <a:extLst>
              <a:ext uri="{FF2B5EF4-FFF2-40B4-BE49-F238E27FC236}">
                <a16:creationId xmlns:a16="http://schemas.microsoft.com/office/drawing/2014/main" id="{8271C8A0-39ED-884F-9C7B-60D76A48C5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A3A8AE-71C0-687A-DC75-CDD720E76C84}"/>
              </a:ext>
            </a:extLst>
          </p:cNvPr>
          <p:cNvSpPr>
            <a:spLocks noGrp="1"/>
          </p:cNvSpPr>
          <p:nvPr>
            <p:ph type="sldNum" sz="quarter" idx="12"/>
          </p:nvPr>
        </p:nvSpPr>
        <p:spPr/>
        <p:txBody>
          <a:bodyPr/>
          <a:lstStyle/>
          <a:p>
            <a:fld id="{BFB35D23-55E2-4923-95B0-FC2CA95CF9FE}" type="slidenum">
              <a:rPr lang="en-US" smtClean="0"/>
              <a:t>‹#›</a:t>
            </a:fld>
            <a:endParaRPr lang="en-US"/>
          </a:p>
        </p:txBody>
      </p:sp>
    </p:spTree>
    <p:extLst>
      <p:ext uri="{BB962C8B-B14F-4D97-AF65-F5344CB8AC3E}">
        <p14:creationId xmlns:p14="http://schemas.microsoft.com/office/powerpoint/2010/main" val="3947356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00D37F-8994-5A54-E393-5D9E71AE8F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C96585-DDFF-D214-75D7-B246B4E8B4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4983DA-6C56-9494-DC15-D11FD78F0F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0E0BFF-DEF3-4B87-BC74-06C80A7F4EA4}" type="datetimeFigureOut">
              <a:rPr lang="en-US" smtClean="0"/>
              <a:t>7/7/2026</a:t>
            </a:fld>
            <a:endParaRPr lang="en-US"/>
          </a:p>
        </p:txBody>
      </p:sp>
      <p:sp>
        <p:nvSpPr>
          <p:cNvPr id="5" name="Footer Placeholder 4">
            <a:extLst>
              <a:ext uri="{FF2B5EF4-FFF2-40B4-BE49-F238E27FC236}">
                <a16:creationId xmlns:a16="http://schemas.microsoft.com/office/drawing/2014/main" id="{7CA39C31-3372-DAFF-2E70-E8D75701F4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853CB71-01DE-5FED-9648-804B20B806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B35D23-55E2-4923-95B0-FC2CA95CF9FE}" type="slidenum">
              <a:rPr lang="en-US" smtClean="0"/>
              <a:t>‹#›</a:t>
            </a:fld>
            <a:endParaRPr lang="en-US"/>
          </a:p>
        </p:txBody>
      </p:sp>
    </p:spTree>
    <p:extLst>
      <p:ext uri="{BB962C8B-B14F-4D97-AF65-F5344CB8AC3E}">
        <p14:creationId xmlns:p14="http://schemas.microsoft.com/office/powerpoint/2010/main" val="940788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CDE78-95B3-CC1C-FF7D-E7A7F1D9F694}"/>
              </a:ext>
            </a:extLst>
          </p:cNvPr>
          <p:cNvSpPr>
            <a:spLocks noGrp="1"/>
          </p:cNvSpPr>
          <p:nvPr>
            <p:ph type="ctrTitle"/>
          </p:nvPr>
        </p:nvSpPr>
        <p:spPr>
          <a:xfrm>
            <a:off x="989743" y="1923479"/>
            <a:ext cx="10054975" cy="2387600"/>
          </a:xfrm>
        </p:spPr>
        <p:txBody>
          <a:bodyPr>
            <a:normAutofit/>
          </a:bodyPr>
          <a:lstStyle/>
          <a:p>
            <a:r>
              <a:rPr lang="en-US" sz="3600" b="1" dirty="0">
                <a:solidFill>
                  <a:schemeClr val="accent1">
                    <a:lumMod val="50000"/>
                  </a:schemeClr>
                </a:solidFill>
              </a:rPr>
              <a:t>Dynamics of Neural Population Activity During the Ready–Set–Go Task</a:t>
            </a:r>
            <a:br>
              <a:rPr lang="en-US" dirty="0"/>
            </a:br>
            <a:endParaRPr lang="en-US" dirty="0"/>
          </a:p>
        </p:txBody>
      </p:sp>
      <p:sp>
        <p:nvSpPr>
          <p:cNvPr id="3" name="Subtitle 2">
            <a:extLst>
              <a:ext uri="{FF2B5EF4-FFF2-40B4-BE49-F238E27FC236}">
                <a16:creationId xmlns:a16="http://schemas.microsoft.com/office/drawing/2014/main" id="{8E22A33F-BFCD-4747-FF9C-6026930A615F}"/>
              </a:ext>
            </a:extLst>
          </p:cNvPr>
          <p:cNvSpPr>
            <a:spLocks noGrp="1"/>
          </p:cNvSpPr>
          <p:nvPr>
            <p:ph type="subTitle" idx="1"/>
          </p:nvPr>
        </p:nvSpPr>
        <p:spPr>
          <a:xfrm>
            <a:off x="1445230" y="3483198"/>
            <a:ext cx="9144000" cy="1655762"/>
          </a:xfrm>
        </p:spPr>
        <p:txBody>
          <a:bodyPr/>
          <a:lstStyle/>
          <a:p>
            <a:r>
              <a:rPr lang="en-US" dirty="0"/>
              <a:t>By Gargi Ghosh</a:t>
            </a:r>
          </a:p>
          <a:p>
            <a:r>
              <a:rPr lang="en-US" sz="1600" dirty="0"/>
              <a:t>(Intern)</a:t>
            </a:r>
          </a:p>
        </p:txBody>
      </p:sp>
      <p:sp>
        <p:nvSpPr>
          <p:cNvPr id="4" name="TextBox 3">
            <a:extLst>
              <a:ext uri="{FF2B5EF4-FFF2-40B4-BE49-F238E27FC236}">
                <a16:creationId xmlns:a16="http://schemas.microsoft.com/office/drawing/2014/main" id="{EB212DF1-5355-CB02-E260-6D5CFD3BDC7A}"/>
              </a:ext>
            </a:extLst>
          </p:cNvPr>
          <p:cNvSpPr txBox="1"/>
          <p:nvPr/>
        </p:nvSpPr>
        <p:spPr>
          <a:xfrm>
            <a:off x="3458965" y="6329347"/>
            <a:ext cx="7859732" cy="369332"/>
          </a:xfrm>
          <a:prstGeom prst="rect">
            <a:avLst/>
          </a:prstGeom>
          <a:noFill/>
        </p:spPr>
        <p:txBody>
          <a:bodyPr wrap="square" rtlCol="0">
            <a:spAutoFit/>
          </a:bodyPr>
          <a:lstStyle/>
          <a:p>
            <a:r>
              <a:rPr lang="en-US" dirty="0"/>
              <a:t>Under supervision of Prof. </a:t>
            </a:r>
            <a:r>
              <a:rPr lang="en-US" dirty="0" err="1"/>
              <a:t>Daesoo</a:t>
            </a:r>
            <a:r>
              <a:rPr lang="en-US" dirty="0"/>
              <a:t> Kim and </a:t>
            </a:r>
            <a:r>
              <a:rPr lang="en-US" dirty="0" err="1"/>
              <a:t>ChangBum</a:t>
            </a:r>
            <a:r>
              <a:rPr lang="en-US" dirty="0"/>
              <a:t> Ko</a:t>
            </a:r>
          </a:p>
        </p:txBody>
      </p:sp>
      <p:pic>
        <p:nvPicPr>
          <p:cNvPr id="6" name="Picture 5">
            <a:extLst>
              <a:ext uri="{FF2B5EF4-FFF2-40B4-BE49-F238E27FC236}">
                <a16:creationId xmlns:a16="http://schemas.microsoft.com/office/drawing/2014/main" id="{1D7D09EC-7B3D-323A-517B-39E68C867B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75515" y="159321"/>
            <a:ext cx="2393787" cy="1234770"/>
          </a:xfrm>
          <a:prstGeom prst="rect">
            <a:avLst/>
          </a:prstGeom>
        </p:spPr>
      </p:pic>
    </p:spTree>
    <p:extLst>
      <p:ext uri="{BB962C8B-B14F-4D97-AF65-F5344CB8AC3E}">
        <p14:creationId xmlns:p14="http://schemas.microsoft.com/office/powerpoint/2010/main" val="1423830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5E9657-BDE0-8F45-2858-7EFE13ECD16B}"/>
              </a:ext>
            </a:extLst>
          </p:cNvPr>
          <p:cNvSpPr txBox="1"/>
          <p:nvPr/>
        </p:nvSpPr>
        <p:spPr>
          <a:xfrm>
            <a:off x="92469" y="0"/>
            <a:ext cx="1108581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Dataset Used </a:t>
            </a:r>
            <a:r>
              <a:rPr lang="en-US" dirty="0"/>
              <a:t>- </a:t>
            </a:r>
            <a:r>
              <a:rPr lang="en-US" sz="1600" dirty="0">
                <a:latin typeface="Times New Roman" panose="02020603050405020304" pitchFamily="18" charset="0"/>
                <a:cs typeface="Times New Roman" panose="02020603050405020304" pitchFamily="18" charset="0"/>
              </a:rPr>
              <a:t>DMFC_RSG: macaque dorsomedial frontal cortex spiking activity during time interval reproduction task </a:t>
            </a:r>
          </a:p>
        </p:txBody>
      </p:sp>
      <p:pic>
        <p:nvPicPr>
          <p:cNvPr id="4" name="Picture 3">
            <a:extLst>
              <a:ext uri="{FF2B5EF4-FFF2-40B4-BE49-F238E27FC236}">
                <a16:creationId xmlns:a16="http://schemas.microsoft.com/office/drawing/2014/main" id="{90372126-967A-3B92-E42D-12B51E3D77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442" y="1391856"/>
            <a:ext cx="4386705" cy="33770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A8A14F18-FE42-45EC-71BF-ECB147778FE6}"/>
              </a:ext>
            </a:extLst>
          </p:cNvPr>
          <p:cNvPicPr>
            <a:picLocks noChangeAspect="1"/>
          </p:cNvPicPr>
          <p:nvPr/>
        </p:nvPicPr>
        <p:blipFill>
          <a:blip r:embed="rId3">
            <a:extLst>
              <a:ext uri="{28A0092B-C50C-407E-A947-70E740481C1C}">
                <a14:useLocalDpi xmlns:a14="http://schemas.microsoft.com/office/drawing/2010/main" val="0"/>
              </a:ext>
            </a:extLst>
          </a:blip>
          <a:srcRect l="570" t="764"/>
          <a:stretch>
            <a:fillRect/>
          </a:stretch>
        </p:blipFill>
        <p:spPr>
          <a:xfrm>
            <a:off x="4707119" y="369332"/>
            <a:ext cx="7057531" cy="30016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a:extLst>
              <a:ext uri="{FF2B5EF4-FFF2-40B4-BE49-F238E27FC236}">
                <a16:creationId xmlns:a16="http://schemas.microsoft.com/office/drawing/2014/main" id="{DFC71766-892B-1972-6CF1-A9BAA9A0C522}"/>
              </a:ext>
            </a:extLst>
          </p:cNvPr>
          <p:cNvSpPr txBox="1"/>
          <p:nvPr/>
        </p:nvSpPr>
        <p:spPr>
          <a:xfrm>
            <a:off x="570089" y="4982964"/>
            <a:ext cx="7311451" cy="830997"/>
          </a:xfrm>
          <a:prstGeom prst="rect">
            <a:avLst/>
          </a:prstGeom>
          <a:noFill/>
        </p:spPr>
        <p:txBody>
          <a:bodyPr wrap="square" rtlCol="0">
            <a:spAutoFit/>
          </a:bodyPr>
          <a:lstStyle/>
          <a:p>
            <a:pPr algn="just"/>
            <a:r>
              <a:rPr lang="en-US" sz="1600" dirty="0"/>
              <a:t>Individual neurons in the DMFC display a variety of complex time-dependent behaviors during both the estimation and production epoch of the ready-set-go task.</a:t>
            </a:r>
          </a:p>
          <a:p>
            <a:pPr algn="just"/>
            <a:endParaRPr lang="en-US" sz="1600" dirty="0"/>
          </a:p>
        </p:txBody>
      </p:sp>
      <p:pic>
        <p:nvPicPr>
          <p:cNvPr id="7" name="Picture 6">
            <a:extLst>
              <a:ext uri="{FF2B5EF4-FFF2-40B4-BE49-F238E27FC236}">
                <a16:creationId xmlns:a16="http://schemas.microsoft.com/office/drawing/2014/main" id="{EB3FFC14-367D-19C9-3049-E44F3E4BC1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0374" y="3486983"/>
            <a:ext cx="3204276" cy="31822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62529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8C0F72-402E-938E-8221-56CAD2F4D7B5}"/>
              </a:ext>
            </a:extLst>
          </p:cNvPr>
          <p:cNvSpPr txBox="1"/>
          <p:nvPr/>
        </p:nvSpPr>
        <p:spPr>
          <a:xfrm>
            <a:off x="79624" y="82194"/>
            <a:ext cx="12032752" cy="923330"/>
          </a:xfrm>
          <a:prstGeom prst="rect">
            <a:avLst/>
          </a:prstGeom>
          <a:noFill/>
        </p:spPr>
        <p:txBody>
          <a:bodyPr wrap="square" rtlCol="0">
            <a:spAutoFit/>
          </a:bodyPr>
          <a:lstStyle/>
          <a:p>
            <a:r>
              <a:rPr lang="en-US" b="1" dirty="0"/>
              <a:t>How does the DMFC transform sensory timing information into an internal neural representation that guides accurate time reproduction?</a:t>
            </a:r>
            <a:endParaRPr lang="en-US" dirty="0"/>
          </a:p>
          <a:p>
            <a:endParaRPr lang="en-US" dirty="0"/>
          </a:p>
        </p:txBody>
      </p:sp>
      <p:pic>
        <p:nvPicPr>
          <p:cNvPr id="3" name="Picture 2">
            <a:extLst>
              <a:ext uri="{FF2B5EF4-FFF2-40B4-BE49-F238E27FC236}">
                <a16:creationId xmlns:a16="http://schemas.microsoft.com/office/drawing/2014/main" id="{E7C3D2A7-D3D8-53F8-EF2C-0E8FE3FB40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004" y="1372208"/>
            <a:ext cx="4104952" cy="3073557"/>
          </a:xfrm>
          <a:prstGeom prst="rect">
            <a:avLst/>
          </a:prstGeom>
        </p:spPr>
      </p:pic>
      <p:pic>
        <p:nvPicPr>
          <p:cNvPr id="4" name="Picture 3">
            <a:extLst>
              <a:ext uri="{FF2B5EF4-FFF2-40B4-BE49-F238E27FC236}">
                <a16:creationId xmlns:a16="http://schemas.microsoft.com/office/drawing/2014/main" id="{08DE59C7-1BD2-E250-CF65-6E81F3A1D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3503" y="1372207"/>
            <a:ext cx="4091200" cy="3073557"/>
          </a:xfrm>
          <a:prstGeom prst="rect">
            <a:avLst/>
          </a:prstGeom>
        </p:spPr>
      </p:pic>
      <p:sp>
        <p:nvSpPr>
          <p:cNvPr id="6" name="TextBox 5">
            <a:extLst>
              <a:ext uri="{FF2B5EF4-FFF2-40B4-BE49-F238E27FC236}">
                <a16:creationId xmlns:a16="http://schemas.microsoft.com/office/drawing/2014/main" id="{5DD0D44A-0EA5-7CCE-1177-E33690DEC28D}"/>
              </a:ext>
            </a:extLst>
          </p:cNvPr>
          <p:cNvSpPr txBox="1"/>
          <p:nvPr/>
        </p:nvSpPr>
        <p:spPr>
          <a:xfrm>
            <a:off x="4354956" y="2013386"/>
            <a:ext cx="6097712" cy="954107"/>
          </a:xfrm>
          <a:prstGeom prst="rect">
            <a:avLst/>
          </a:prstGeom>
          <a:noFill/>
        </p:spPr>
        <p:txBody>
          <a:bodyPr wrap="square">
            <a:spAutoFit/>
          </a:bodyPr>
          <a:lstStyle/>
          <a:p>
            <a:r>
              <a:rPr lang="en-US" sz="1400" dirty="0"/>
              <a:t>Number of Trials: 983</a:t>
            </a:r>
          </a:p>
          <a:p>
            <a:r>
              <a:rPr lang="en-US" sz="1400" dirty="0"/>
              <a:t>Slope: 0.8939</a:t>
            </a:r>
          </a:p>
          <a:p>
            <a:r>
              <a:rPr lang="en-US" sz="1400" dirty="0"/>
              <a:t>Intercept: 98.9692</a:t>
            </a:r>
          </a:p>
          <a:p>
            <a:r>
              <a:rPr lang="en-US" sz="1400" dirty="0"/>
              <a:t>R</a:t>
            </a:r>
            <a:r>
              <a:rPr lang="en-US" sz="1400" baseline="30000" dirty="0"/>
              <a:t>2</a:t>
            </a:r>
            <a:r>
              <a:rPr lang="en-US" sz="1400" dirty="0"/>
              <a:t> : 0.8052</a:t>
            </a:r>
          </a:p>
        </p:txBody>
      </p:sp>
      <p:sp>
        <p:nvSpPr>
          <p:cNvPr id="8" name="TextBox 7">
            <a:extLst>
              <a:ext uri="{FF2B5EF4-FFF2-40B4-BE49-F238E27FC236}">
                <a16:creationId xmlns:a16="http://schemas.microsoft.com/office/drawing/2014/main" id="{B8465507-8E7F-3AB9-FF4A-793398008A2C}"/>
              </a:ext>
            </a:extLst>
          </p:cNvPr>
          <p:cNvSpPr txBox="1"/>
          <p:nvPr/>
        </p:nvSpPr>
        <p:spPr>
          <a:xfrm>
            <a:off x="10294703" y="2083455"/>
            <a:ext cx="1817673" cy="1015663"/>
          </a:xfrm>
          <a:prstGeom prst="rect">
            <a:avLst/>
          </a:prstGeom>
          <a:noFill/>
        </p:spPr>
        <p:txBody>
          <a:bodyPr wrap="square">
            <a:spAutoFit/>
          </a:bodyPr>
          <a:lstStyle/>
          <a:p>
            <a:pPr fontAlgn="base" latinLnBrk="1"/>
            <a:r>
              <a:rPr lang="pt-BR" sz="1400" dirty="0"/>
              <a:t>Slope = -0.1043</a:t>
            </a:r>
          </a:p>
          <a:p>
            <a:pPr fontAlgn="base" latinLnBrk="1"/>
            <a:r>
              <a:rPr lang="pt-BR" sz="1400" dirty="0"/>
              <a:t>R² = 0.6039</a:t>
            </a:r>
          </a:p>
          <a:p>
            <a:pPr fontAlgn="base" latinLnBrk="1"/>
            <a:r>
              <a:rPr lang="pt-BR" sz="1400" dirty="0"/>
              <a:t>p-value = 1.3728e-02</a:t>
            </a:r>
          </a:p>
          <a:p>
            <a:r>
              <a:rPr lang="en-US" dirty="0"/>
              <a:t> </a:t>
            </a:r>
          </a:p>
        </p:txBody>
      </p:sp>
      <p:sp>
        <p:nvSpPr>
          <p:cNvPr id="9" name="TextBox 8">
            <a:extLst>
              <a:ext uri="{FF2B5EF4-FFF2-40B4-BE49-F238E27FC236}">
                <a16:creationId xmlns:a16="http://schemas.microsoft.com/office/drawing/2014/main" id="{C11FE685-3D2D-E03E-32CD-E98E660C39F7}"/>
              </a:ext>
            </a:extLst>
          </p:cNvPr>
          <p:cNvSpPr txBox="1"/>
          <p:nvPr/>
        </p:nvSpPr>
        <p:spPr>
          <a:xfrm>
            <a:off x="250005" y="808664"/>
            <a:ext cx="11605298" cy="338554"/>
          </a:xfrm>
          <a:prstGeom prst="rect">
            <a:avLst/>
          </a:prstGeom>
          <a:solidFill>
            <a:schemeClr val="accent5">
              <a:lumMod val="20000"/>
              <a:lumOff val="80000"/>
            </a:schemeClr>
          </a:solidFill>
        </p:spPr>
        <p:txBody>
          <a:bodyPr wrap="square" rtlCol="0">
            <a:spAutoFit/>
          </a:bodyPr>
          <a:lstStyle/>
          <a:p>
            <a:pPr algn="ctr"/>
            <a:r>
              <a:rPr lang="en-US" sz="1600" dirty="0"/>
              <a:t>The frontal cortex of the brain stores the information as an estimate of the elapsed time rather than the exact copy of the physical timing. </a:t>
            </a:r>
          </a:p>
        </p:txBody>
      </p:sp>
      <p:sp>
        <p:nvSpPr>
          <p:cNvPr id="11" name="TextBox 10">
            <a:extLst>
              <a:ext uri="{FF2B5EF4-FFF2-40B4-BE49-F238E27FC236}">
                <a16:creationId xmlns:a16="http://schemas.microsoft.com/office/drawing/2014/main" id="{09F322C3-0A4E-9BBB-B88C-530DA821DC43}"/>
              </a:ext>
            </a:extLst>
          </p:cNvPr>
          <p:cNvSpPr txBox="1"/>
          <p:nvPr/>
        </p:nvSpPr>
        <p:spPr>
          <a:xfrm>
            <a:off x="250004" y="4812450"/>
            <a:ext cx="11119207" cy="1569660"/>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t>The longer intervals were seemed to be reproduced slightly shorter whereas the shorter intervals were seemed to be reproduced slightly longer proving the Vierordt's law of the central tendency effect. </a:t>
            </a:r>
          </a:p>
          <a:p>
            <a:pPr marL="285750" indent="-285750" algn="just">
              <a:buFont typeface="Arial" panose="020B0604020202020204" pitchFamily="34" charset="0"/>
              <a:buChar char="•"/>
            </a:pPr>
            <a:r>
              <a:rPr lang="en-US" sz="1600" dirty="0"/>
              <a:t>Behavioral analyses demonstrated a strong relationship between sample and reproduced intervals (R² = 0.805). However, reproduction errors varied systematically with interval length (slope = -0.104, p = 0.0137), indicating that timing behavior was influenced by an internal estimate of elapsed time rather than a perfect representation of the physical stimulus. This suggest that temporal information undergoes neural transformation before guiding behavioral output.</a:t>
            </a:r>
          </a:p>
        </p:txBody>
      </p:sp>
    </p:spTree>
    <p:extLst>
      <p:ext uri="{BB962C8B-B14F-4D97-AF65-F5344CB8AC3E}">
        <p14:creationId xmlns:p14="http://schemas.microsoft.com/office/powerpoint/2010/main" val="3463155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C149B0-7602-3DEA-347E-F3F992E2A3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870" y="201648"/>
            <a:ext cx="5101642" cy="308837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a:extLst>
              <a:ext uri="{FF2B5EF4-FFF2-40B4-BE49-F238E27FC236}">
                <a16:creationId xmlns:a16="http://schemas.microsoft.com/office/drawing/2014/main" id="{52E19A51-CD86-7116-79B7-04412CBD8F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2020" y="201647"/>
            <a:ext cx="5174749" cy="308837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8D6EC382-F3EB-93C0-0CA4-774D9DC42D51}"/>
              </a:ext>
            </a:extLst>
          </p:cNvPr>
          <p:cNvSpPr txBox="1"/>
          <p:nvPr/>
        </p:nvSpPr>
        <p:spPr>
          <a:xfrm>
            <a:off x="6096000" y="5684825"/>
            <a:ext cx="4958993" cy="584775"/>
          </a:xfrm>
          <a:prstGeom prst="rect">
            <a:avLst/>
          </a:prstGeom>
          <a:solidFill>
            <a:schemeClr val="accent5">
              <a:lumMod val="20000"/>
              <a:lumOff val="80000"/>
            </a:schemeClr>
          </a:solidFill>
        </p:spPr>
        <p:txBody>
          <a:bodyPr wrap="square" rtlCol="0">
            <a:spAutoFit/>
          </a:bodyPr>
          <a:lstStyle/>
          <a:p>
            <a:pPr algn="ctr"/>
            <a:r>
              <a:rPr lang="en-US" sz="1600" dirty="0"/>
              <a:t>The perceived interval is stored as a continuously evolving state instead of storing it as a static memory </a:t>
            </a:r>
          </a:p>
        </p:txBody>
      </p:sp>
      <p:sp>
        <p:nvSpPr>
          <p:cNvPr id="5" name="TextBox 4">
            <a:extLst>
              <a:ext uri="{FF2B5EF4-FFF2-40B4-BE49-F238E27FC236}">
                <a16:creationId xmlns:a16="http://schemas.microsoft.com/office/drawing/2014/main" id="{3DC2A090-5CBE-01B5-E010-13D034C82994}"/>
              </a:ext>
            </a:extLst>
          </p:cNvPr>
          <p:cNvSpPr txBox="1"/>
          <p:nvPr/>
        </p:nvSpPr>
        <p:spPr>
          <a:xfrm>
            <a:off x="5572020" y="3774514"/>
            <a:ext cx="6173296" cy="1323439"/>
          </a:xfrm>
          <a:prstGeom prst="rect">
            <a:avLst/>
          </a:prstGeom>
          <a:noFill/>
        </p:spPr>
        <p:txBody>
          <a:bodyPr wrap="square" rtlCol="0">
            <a:spAutoFit/>
          </a:bodyPr>
          <a:lstStyle/>
          <a:p>
            <a:pPr algn="just"/>
            <a:r>
              <a:rPr lang="en-US" sz="1600" dirty="0"/>
              <a:t>The shorter time interval (480-560 </a:t>
            </a:r>
            <a:r>
              <a:rPr lang="en-US" sz="1600" dirty="0" err="1"/>
              <a:t>ms</a:t>
            </a:r>
            <a:r>
              <a:rPr lang="en-US" sz="1600" dirty="0"/>
              <a:t>) conditions collapse earlier while longer time intervals (1000-1200 </a:t>
            </a:r>
            <a:r>
              <a:rPr lang="en-US" sz="1600" dirty="0" err="1"/>
              <a:t>ms</a:t>
            </a:r>
            <a:r>
              <a:rPr lang="en-US" sz="1600" dirty="0"/>
              <a:t>) remain active for longer period showing a slower decay suggesting that neural dynamics unfold at different speeds depending on the interval that must be reproduced.</a:t>
            </a:r>
          </a:p>
          <a:p>
            <a:pPr marL="285750" indent="-285750" algn="just">
              <a:buFont typeface="Arial" panose="020B0604020202020204" pitchFamily="34" charset="0"/>
              <a:buChar char="•"/>
            </a:pPr>
            <a:endParaRPr lang="en-US" sz="1600" dirty="0"/>
          </a:p>
        </p:txBody>
      </p:sp>
      <p:pic>
        <p:nvPicPr>
          <p:cNvPr id="7" name="Picture 6">
            <a:extLst>
              <a:ext uri="{FF2B5EF4-FFF2-40B4-BE49-F238E27FC236}">
                <a16:creationId xmlns:a16="http://schemas.microsoft.com/office/drawing/2014/main" id="{B3477DEA-3F8C-8792-42F1-3CFE063917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684" y="3429000"/>
            <a:ext cx="4976469" cy="3227352"/>
          </a:xfrm>
          <a:prstGeom prst="rect">
            <a:avLst/>
          </a:prstGeom>
        </p:spPr>
      </p:pic>
    </p:spTree>
    <p:extLst>
      <p:ext uri="{BB962C8B-B14F-4D97-AF65-F5344CB8AC3E}">
        <p14:creationId xmlns:p14="http://schemas.microsoft.com/office/powerpoint/2010/main" val="595143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E558D7-19D9-538F-6BC3-354D086310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846" y="387294"/>
            <a:ext cx="4242903" cy="34408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BB85F42A-6282-9321-3726-4BC8CF20CA56}"/>
              </a:ext>
            </a:extLst>
          </p:cNvPr>
          <p:cNvSpPr txBox="1"/>
          <p:nvPr/>
        </p:nvSpPr>
        <p:spPr>
          <a:xfrm>
            <a:off x="145228" y="4617140"/>
            <a:ext cx="11731698" cy="2154436"/>
          </a:xfrm>
          <a:prstGeom prst="rect">
            <a:avLst/>
          </a:prstGeom>
          <a:noFill/>
        </p:spPr>
        <p:txBody>
          <a:bodyPr wrap="square" rtlCol="0">
            <a:spAutoFit/>
          </a:bodyPr>
          <a:lstStyle/>
          <a:p>
            <a:pPr algn="just"/>
            <a:br>
              <a:rPr lang="en-US" sz="1400" dirty="0"/>
            </a:br>
            <a:r>
              <a:rPr lang="en-US" sz="1400" dirty="0"/>
              <a:t>Analysis of neural population activity during the Ready-to-Set interval revealed a continuous trajectory through low-dimensional state space. Rather than remaining stationary following the Ready cue, neural activity evolved systematically over time, indicating that elapsed time was represented by the progression of population dynamics along a neural manifold. This observation is consistent with dynamical systems models of temporal processing, in which timing information is encoded through continuously changing neural states rather than static representations. The presence of an organized trajectory during interval measurement suggests that DMFC actively tracks elapsed time through internally generated population dynamics, providing a potential neural substrate for subsequent interval reproduction.</a:t>
            </a:r>
          </a:p>
          <a:p>
            <a:pPr algn="just"/>
            <a:br>
              <a:rPr lang="en-US" dirty="0"/>
            </a:br>
            <a:endParaRPr lang="en-US" dirty="0"/>
          </a:p>
        </p:txBody>
      </p:sp>
      <p:pic>
        <p:nvPicPr>
          <p:cNvPr id="6" name="Picture 5">
            <a:extLst>
              <a:ext uri="{FF2B5EF4-FFF2-40B4-BE49-F238E27FC236}">
                <a16:creationId xmlns:a16="http://schemas.microsoft.com/office/drawing/2014/main" id="{F836B7BE-FC37-3FC8-E62C-74E06A0F6B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3208" y="387294"/>
            <a:ext cx="4261748" cy="34466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extBox 1">
            <a:extLst>
              <a:ext uri="{FF2B5EF4-FFF2-40B4-BE49-F238E27FC236}">
                <a16:creationId xmlns:a16="http://schemas.microsoft.com/office/drawing/2014/main" id="{560932EA-7BE5-0437-BDA4-216F1875D376}"/>
              </a:ext>
            </a:extLst>
          </p:cNvPr>
          <p:cNvSpPr txBox="1"/>
          <p:nvPr/>
        </p:nvSpPr>
        <p:spPr>
          <a:xfrm>
            <a:off x="431515" y="4017196"/>
            <a:ext cx="11414588" cy="584775"/>
          </a:xfrm>
          <a:prstGeom prst="rect">
            <a:avLst/>
          </a:prstGeom>
          <a:solidFill>
            <a:schemeClr val="accent5">
              <a:lumMod val="20000"/>
              <a:lumOff val="80000"/>
            </a:schemeClr>
          </a:solidFill>
        </p:spPr>
        <p:txBody>
          <a:bodyPr wrap="square" rtlCol="0">
            <a:spAutoFit/>
          </a:bodyPr>
          <a:lstStyle/>
          <a:p>
            <a:pPr algn="ctr"/>
            <a:r>
              <a:rPr lang="en-US" sz="1600" dirty="0"/>
              <a:t>Timing is represented through evolving neural population dynamics, with distinct neural manifolds supporting interval encoding and interval reproduction</a:t>
            </a:r>
          </a:p>
        </p:txBody>
      </p:sp>
    </p:spTree>
    <p:extLst>
      <p:ext uri="{BB962C8B-B14F-4D97-AF65-F5344CB8AC3E}">
        <p14:creationId xmlns:p14="http://schemas.microsoft.com/office/powerpoint/2010/main" val="909093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55FACC9-960B-7FBD-0561-5BD626350AE3}"/>
              </a:ext>
            </a:extLst>
          </p:cNvPr>
          <p:cNvGraphicFramePr>
            <a:graphicFrameLocks noGrp="1"/>
          </p:cNvGraphicFramePr>
          <p:nvPr>
            <p:extLst>
              <p:ext uri="{D42A27DB-BD31-4B8C-83A1-F6EECF244321}">
                <p14:modId xmlns:p14="http://schemas.microsoft.com/office/powerpoint/2010/main" val="3964557802"/>
              </p:ext>
            </p:extLst>
          </p:nvPr>
        </p:nvGraphicFramePr>
        <p:xfrm>
          <a:off x="262849" y="154112"/>
          <a:ext cx="6292063" cy="3698240"/>
        </p:xfrm>
        <a:graphic>
          <a:graphicData uri="http://schemas.openxmlformats.org/drawingml/2006/table">
            <a:tbl>
              <a:tblPr/>
              <a:tblGrid>
                <a:gridCol w="1663007">
                  <a:extLst>
                    <a:ext uri="{9D8B030D-6E8A-4147-A177-3AD203B41FA5}">
                      <a16:colId xmlns:a16="http://schemas.microsoft.com/office/drawing/2014/main" val="2021799936"/>
                    </a:ext>
                  </a:extLst>
                </a:gridCol>
                <a:gridCol w="1428829">
                  <a:extLst>
                    <a:ext uri="{9D8B030D-6E8A-4147-A177-3AD203B41FA5}">
                      <a16:colId xmlns:a16="http://schemas.microsoft.com/office/drawing/2014/main" val="4259205203"/>
                    </a:ext>
                  </a:extLst>
                </a:gridCol>
                <a:gridCol w="1703045">
                  <a:extLst>
                    <a:ext uri="{9D8B030D-6E8A-4147-A177-3AD203B41FA5}">
                      <a16:colId xmlns:a16="http://schemas.microsoft.com/office/drawing/2014/main" val="2445159729"/>
                    </a:ext>
                  </a:extLst>
                </a:gridCol>
                <a:gridCol w="1497182">
                  <a:extLst>
                    <a:ext uri="{9D8B030D-6E8A-4147-A177-3AD203B41FA5}">
                      <a16:colId xmlns:a16="http://schemas.microsoft.com/office/drawing/2014/main" val="3990806152"/>
                    </a:ext>
                  </a:extLst>
                </a:gridCol>
              </a:tblGrid>
              <a:tr h="536966">
                <a:tc>
                  <a:txBody>
                    <a:bodyPr/>
                    <a:lstStyle/>
                    <a:p>
                      <a:pPr rtl="0">
                        <a:buNone/>
                      </a:pPr>
                      <a:r>
                        <a:rPr lang="en-US" sz="1600" b="1">
                          <a:solidFill>
                            <a:srgbClr val="1F1F1F"/>
                          </a:solidFill>
                          <a:effectLst/>
                          <a:latin typeface="Google Sans Text"/>
                        </a:rPr>
                        <a:t>Time Condition (ts)</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tc>
                  <a:txBody>
                    <a:bodyPr/>
                    <a:lstStyle/>
                    <a:p>
                      <a:pPr rtl="0">
                        <a:buNone/>
                      </a:pPr>
                      <a:r>
                        <a:rPr lang="en-US" sz="1600" b="1">
                          <a:solidFill>
                            <a:srgbClr val="1F1F1F"/>
                          </a:solidFill>
                          <a:effectLst/>
                          <a:latin typeface="Google Sans Text"/>
                        </a:rPr>
                        <a:t>Mean Tangling</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tc>
                  <a:txBody>
                    <a:bodyPr/>
                    <a:lstStyle/>
                    <a:p>
                      <a:pPr rtl="0">
                        <a:buNone/>
                      </a:pPr>
                      <a:r>
                        <a:rPr lang="en-US" sz="1600" b="1">
                          <a:solidFill>
                            <a:srgbClr val="1F1F1F"/>
                          </a:solidFill>
                          <a:effectLst/>
                          <a:latin typeface="Google Sans Text"/>
                        </a:rPr>
                        <a:t>Median Tangling</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tc>
                  <a:txBody>
                    <a:bodyPr/>
                    <a:lstStyle/>
                    <a:p>
                      <a:pPr rtl="0">
                        <a:buNone/>
                      </a:pPr>
                      <a:r>
                        <a:rPr lang="en-US" sz="1600" b="1" dirty="0">
                          <a:solidFill>
                            <a:srgbClr val="1F1F1F"/>
                          </a:solidFill>
                          <a:effectLst/>
                          <a:latin typeface="Google Sans Text"/>
                        </a:rPr>
                        <a:t>Max Tangling</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40110785"/>
                  </a:ext>
                </a:extLst>
              </a:tr>
              <a:tr h="314773">
                <a:tc>
                  <a:txBody>
                    <a:bodyPr/>
                    <a:lstStyle/>
                    <a:p>
                      <a:pPr rtl="0">
                        <a:buNone/>
                      </a:pPr>
                      <a:r>
                        <a:rPr lang="en-US" sz="1600" b="1" dirty="0">
                          <a:solidFill>
                            <a:srgbClr val="1F1F1F"/>
                          </a:solidFill>
                          <a:effectLst/>
                          <a:latin typeface="Google Sans Text"/>
                        </a:rPr>
                        <a:t>480.0</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6.27</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2.33</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111.23</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15046089"/>
                  </a:ext>
                </a:extLst>
              </a:tr>
              <a:tr h="314773">
                <a:tc>
                  <a:txBody>
                    <a:bodyPr/>
                    <a:lstStyle/>
                    <a:p>
                      <a:pPr rtl="0">
                        <a:buNone/>
                      </a:pPr>
                      <a:r>
                        <a:rPr lang="en-US" sz="1600" b="1" dirty="0">
                          <a:solidFill>
                            <a:srgbClr val="1F1F1F"/>
                          </a:solidFill>
                          <a:effectLst/>
                          <a:latin typeface="Google Sans Text"/>
                        </a:rPr>
                        <a:t>560.0</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13.83</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2.45</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538.29</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211636430"/>
                  </a:ext>
                </a:extLst>
              </a:tr>
              <a:tr h="314773">
                <a:tc>
                  <a:txBody>
                    <a:bodyPr/>
                    <a:lstStyle/>
                    <a:p>
                      <a:pPr rtl="0">
                        <a:buNone/>
                      </a:pPr>
                      <a:r>
                        <a:rPr lang="en-US" sz="1600" b="1" dirty="0">
                          <a:solidFill>
                            <a:srgbClr val="1F1F1F"/>
                          </a:solidFill>
                          <a:effectLst/>
                          <a:latin typeface="Google Sans Text"/>
                        </a:rPr>
                        <a:t>640.0</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4.43</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2.38</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25.68</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806107474"/>
                  </a:ext>
                </a:extLst>
              </a:tr>
              <a:tr h="314773">
                <a:tc>
                  <a:txBody>
                    <a:bodyPr/>
                    <a:lstStyle/>
                    <a:p>
                      <a:pPr rtl="0">
                        <a:buNone/>
                      </a:pPr>
                      <a:r>
                        <a:rPr lang="en-US" sz="1600" b="1" dirty="0">
                          <a:solidFill>
                            <a:srgbClr val="1F1F1F"/>
                          </a:solidFill>
                          <a:effectLst/>
                          <a:latin typeface="Google Sans Text"/>
                        </a:rPr>
                        <a:t>720.0</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5.69</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2.19</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125.85</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75491576"/>
                  </a:ext>
                </a:extLst>
              </a:tr>
              <a:tr h="314773">
                <a:tc>
                  <a:txBody>
                    <a:bodyPr/>
                    <a:lstStyle/>
                    <a:p>
                      <a:pPr rtl="0">
                        <a:buNone/>
                      </a:pPr>
                      <a:r>
                        <a:rPr lang="en-US" sz="1600" b="1" dirty="0">
                          <a:solidFill>
                            <a:srgbClr val="1F1F1F"/>
                          </a:solidFill>
                          <a:effectLst/>
                          <a:latin typeface="Google Sans Text"/>
                        </a:rPr>
                        <a:t>800.0</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21.93</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3.28</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1083.75</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187410314"/>
                  </a:ext>
                </a:extLst>
              </a:tr>
              <a:tr h="314773">
                <a:tc>
                  <a:txBody>
                    <a:bodyPr/>
                    <a:lstStyle/>
                    <a:p>
                      <a:pPr rtl="0">
                        <a:buNone/>
                      </a:pPr>
                      <a:r>
                        <a:rPr lang="en-US" sz="1600" b="1">
                          <a:solidFill>
                            <a:srgbClr val="1F1F1F"/>
                          </a:solidFill>
                          <a:effectLst/>
                          <a:latin typeface="Google Sans Text"/>
                        </a:rPr>
                        <a:t>900.0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7.82</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4.60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44.61</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48189727"/>
                  </a:ext>
                </a:extLst>
              </a:tr>
              <a:tr h="314773">
                <a:tc>
                  <a:txBody>
                    <a:bodyPr/>
                    <a:lstStyle/>
                    <a:p>
                      <a:pPr rtl="0">
                        <a:buNone/>
                      </a:pPr>
                      <a:r>
                        <a:rPr lang="en-US" sz="1600" b="1" dirty="0">
                          <a:solidFill>
                            <a:srgbClr val="1F1F1F"/>
                          </a:solidFill>
                          <a:effectLst/>
                          <a:latin typeface="Google Sans Text"/>
                        </a:rPr>
                        <a:t>1000.0</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7.51</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2.67</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137.21</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156455399"/>
                  </a:ext>
                </a:extLst>
              </a:tr>
              <a:tr h="314773">
                <a:tc>
                  <a:txBody>
                    <a:bodyPr/>
                    <a:lstStyle/>
                    <a:p>
                      <a:pPr rtl="0">
                        <a:buNone/>
                      </a:pPr>
                      <a:r>
                        <a:rPr lang="en-US" sz="1600" b="1" dirty="0">
                          <a:solidFill>
                            <a:srgbClr val="1F1F1F"/>
                          </a:solidFill>
                          <a:effectLst/>
                          <a:latin typeface="Google Sans Text"/>
                        </a:rPr>
                        <a:t>1100.0</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4.64</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2.74</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31.17</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842964218"/>
                  </a:ext>
                </a:extLst>
              </a:tr>
              <a:tr h="314773">
                <a:tc>
                  <a:txBody>
                    <a:bodyPr/>
                    <a:lstStyle/>
                    <a:p>
                      <a:pPr rtl="0">
                        <a:buNone/>
                      </a:pPr>
                      <a:r>
                        <a:rPr lang="en-US" sz="1600" b="1" dirty="0">
                          <a:solidFill>
                            <a:srgbClr val="1F1F1F"/>
                          </a:solidFill>
                          <a:effectLst/>
                          <a:latin typeface="Google Sans Text"/>
                        </a:rPr>
                        <a:t>1200.0</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7.36</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3.52</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113.95</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936146594"/>
                  </a:ext>
                </a:extLst>
              </a:tr>
            </a:tbl>
          </a:graphicData>
        </a:graphic>
      </p:graphicFrame>
      <p:pic>
        <p:nvPicPr>
          <p:cNvPr id="6" name="Picture 5">
            <a:extLst>
              <a:ext uri="{FF2B5EF4-FFF2-40B4-BE49-F238E27FC236}">
                <a16:creationId xmlns:a16="http://schemas.microsoft.com/office/drawing/2014/main" id="{0752E36F-F12A-9215-FE4D-A4979F4EFD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7071" y="565458"/>
            <a:ext cx="4709691" cy="2670902"/>
          </a:xfrm>
          <a:prstGeom prst="rect">
            <a:avLst/>
          </a:prstGeom>
        </p:spPr>
      </p:pic>
      <p:graphicFrame>
        <p:nvGraphicFramePr>
          <p:cNvPr id="8" name="Table 7">
            <a:extLst>
              <a:ext uri="{FF2B5EF4-FFF2-40B4-BE49-F238E27FC236}">
                <a16:creationId xmlns:a16="http://schemas.microsoft.com/office/drawing/2014/main" id="{0B3C40E3-C5DC-1890-13EF-CCFA20D345BB}"/>
              </a:ext>
            </a:extLst>
          </p:cNvPr>
          <p:cNvGraphicFramePr>
            <a:graphicFrameLocks noGrp="1"/>
          </p:cNvGraphicFramePr>
          <p:nvPr>
            <p:extLst>
              <p:ext uri="{D42A27DB-BD31-4B8C-83A1-F6EECF244321}">
                <p14:modId xmlns:p14="http://schemas.microsoft.com/office/powerpoint/2010/main" val="2303593874"/>
              </p:ext>
            </p:extLst>
          </p:nvPr>
        </p:nvGraphicFramePr>
        <p:xfrm>
          <a:off x="262849" y="4106605"/>
          <a:ext cx="6024935" cy="1493520"/>
        </p:xfrm>
        <a:graphic>
          <a:graphicData uri="http://schemas.openxmlformats.org/drawingml/2006/table">
            <a:tbl>
              <a:tblPr/>
              <a:tblGrid>
                <a:gridCol w="1791342">
                  <a:extLst>
                    <a:ext uri="{9D8B030D-6E8A-4147-A177-3AD203B41FA5}">
                      <a16:colId xmlns:a16="http://schemas.microsoft.com/office/drawing/2014/main" val="743819708"/>
                    </a:ext>
                  </a:extLst>
                </a:gridCol>
                <a:gridCol w="997234">
                  <a:extLst>
                    <a:ext uri="{9D8B030D-6E8A-4147-A177-3AD203B41FA5}">
                      <a16:colId xmlns:a16="http://schemas.microsoft.com/office/drawing/2014/main" val="2265657096"/>
                    </a:ext>
                  </a:extLst>
                </a:gridCol>
                <a:gridCol w="1263721">
                  <a:extLst>
                    <a:ext uri="{9D8B030D-6E8A-4147-A177-3AD203B41FA5}">
                      <a16:colId xmlns:a16="http://schemas.microsoft.com/office/drawing/2014/main" val="3114755698"/>
                    </a:ext>
                  </a:extLst>
                </a:gridCol>
                <a:gridCol w="1972638">
                  <a:extLst>
                    <a:ext uri="{9D8B030D-6E8A-4147-A177-3AD203B41FA5}">
                      <a16:colId xmlns:a16="http://schemas.microsoft.com/office/drawing/2014/main" val="2202863761"/>
                    </a:ext>
                  </a:extLst>
                </a:gridCol>
              </a:tblGrid>
              <a:tr h="313150">
                <a:tc>
                  <a:txBody>
                    <a:bodyPr/>
                    <a:lstStyle/>
                    <a:p>
                      <a:pPr>
                        <a:buNone/>
                      </a:pPr>
                      <a:r>
                        <a:rPr lang="en-US" sz="1600" dirty="0"/>
                        <a:t>Epoch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buNone/>
                      </a:pPr>
                      <a:r>
                        <a:rPr lang="en-US" sz="1600" dirty="0"/>
                        <a:t>Mean 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buNone/>
                      </a:pPr>
                      <a:r>
                        <a:rPr lang="en-US" sz="1600"/>
                        <a:t>Median 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buNone/>
                      </a:pPr>
                      <a:r>
                        <a:rPr lang="en-US" sz="1600" dirty="0"/>
                        <a:t>95th Percentile 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862699162"/>
                  </a:ext>
                </a:extLst>
              </a:tr>
              <a:tr h="548012">
                <a:tc>
                  <a:txBody>
                    <a:bodyPr/>
                    <a:lstStyle/>
                    <a:p>
                      <a:pPr>
                        <a:buNone/>
                      </a:pPr>
                      <a:r>
                        <a:rPr lang="en-US" sz="1600"/>
                        <a:t>Measurement (Ready→Set)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8.93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1.67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dirty="0"/>
                        <a:t>28.71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90660"/>
                  </a:ext>
                </a:extLst>
              </a:tr>
              <a:tr h="0">
                <a:tc>
                  <a:txBody>
                    <a:bodyPr/>
                    <a:lstStyle/>
                    <a:p>
                      <a:pPr>
                        <a:buNone/>
                      </a:pPr>
                      <a:r>
                        <a:rPr lang="en-US" sz="1600" dirty="0"/>
                        <a:t>Production (</a:t>
                      </a:r>
                      <a:r>
                        <a:rPr lang="en-US" sz="1600" dirty="0" err="1"/>
                        <a:t>Set→Go</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8.50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2.85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dirty="0"/>
                        <a:t>21.39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9674570"/>
                  </a:ext>
                </a:extLst>
              </a:tr>
            </a:tbl>
          </a:graphicData>
        </a:graphic>
      </p:graphicFrame>
      <p:sp>
        <p:nvSpPr>
          <p:cNvPr id="10" name="TextBox 9">
            <a:extLst>
              <a:ext uri="{FF2B5EF4-FFF2-40B4-BE49-F238E27FC236}">
                <a16:creationId xmlns:a16="http://schemas.microsoft.com/office/drawing/2014/main" id="{59A97F9F-6103-E47F-3D53-B75CD0085CDC}"/>
              </a:ext>
            </a:extLst>
          </p:cNvPr>
          <p:cNvSpPr txBox="1"/>
          <p:nvPr/>
        </p:nvSpPr>
        <p:spPr>
          <a:xfrm>
            <a:off x="141270" y="5746015"/>
            <a:ext cx="6702695" cy="1015663"/>
          </a:xfrm>
          <a:prstGeom prst="rect">
            <a:avLst/>
          </a:prstGeom>
          <a:noFill/>
        </p:spPr>
        <p:txBody>
          <a:bodyPr wrap="square">
            <a:spAutoFit/>
          </a:bodyPr>
          <a:lstStyle/>
          <a:p>
            <a:pPr algn="just">
              <a:lnSpc>
                <a:spcPts val="1800"/>
              </a:lnSpc>
              <a:spcAft>
                <a:spcPts val="600"/>
              </a:spcAft>
              <a:buNone/>
            </a:pPr>
            <a:r>
              <a:rPr lang="en-US" sz="1600" b="0" i="0" dirty="0">
                <a:effectLst/>
              </a:rPr>
              <a:t>Tangling quantifies the consistency of neural dynamics by measuring whether nearby neural states evolve in similar directions. Lower tangling indicates smoother and more autonomous dynamics, whereas higher tangling suggests that similar neural states can lead to different future trajectories.</a:t>
            </a:r>
          </a:p>
        </p:txBody>
      </p:sp>
      <p:sp>
        <p:nvSpPr>
          <p:cNvPr id="12" name="TextBox 11">
            <a:extLst>
              <a:ext uri="{FF2B5EF4-FFF2-40B4-BE49-F238E27FC236}">
                <a16:creationId xmlns:a16="http://schemas.microsoft.com/office/drawing/2014/main" id="{9B9F5FEF-AA83-E06C-E28F-7C794FB99E81}"/>
              </a:ext>
            </a:extLst>
          </p:cNvPr>
          <p:cNvSpPr txBox="1"/>
          <p:nvPr/>
        </p:nvSpPr>
        <p:spPr>
          <a:xfrm>
            <a:off x="6914086" y="4156411"/>
            <a:ext cx="5155902" cy="1754326"/>
          </a:xfrm>
          <a:prstGeom prst="rect">
            <a:avLst/>
          </a:prstGeom>
          <a:solidFill>
            <a:schemeClr val="accent4">
              <a:lumMod val="20000"/>
              <a:lumOff val="80000"/>
            </a:schemeClr>
          </a:solidFill>
        </p:spPr>
        <p:txBody>
          <a:bodyPr wrap="square">
            <a:spAutoFit/>
          </a:bodyPr>
          <a:lstStyle/>
          <a:p>
            <a:r>
              <a:rPr lang="en-US" b="0" i="0" dirty="0">
                <a:effectLst/>
              </a:rPr>
              <a:t>These results suggest that neural dynamics during Production are consistently more complex, whereas Measurement dynamics are generally smoother but occasionally undergo large state transitions, su</a:t>
            </a:r>
            <a:r>
              <a:rPr lang="en-US" dirty="0"/>
              <a:t>ggesting that the brain utilizes non-autonomous, gated dynamics to perform timing computations</a:t>
            </a:r>
            <a:endParaRPr lang="en-US" b="0" i="0" dirty="0">
              <a:effectLst/>
            </a:endParaRPr>
          </a:p>
        </p:txBody>
      </p:sp>
      <p:sp>
        <p:nvSpPr>
          <p:cNvPr id="13" name="TextBox 12">
            <a:extLst>
              <a:ext uri="{FF2B5EF4-FFF2-40B4-BE49-F238E27FC236}">
                <a16:creationId xmlns:a16="http://schemas.microsoft.com/office/drawing/2014/main" id="{3E4838E6-186B-CFA7-DF67-DFFD30E233A4}"/>
              </a:ext>
            </a:extLst>
          </p:cNvPr>
          <p:cNvSpPr txBox="1"/>
          <p:nvPr/>
        </p:nvSpPr>
        <p:spPr>
          <a:xfrm>
            <a:off x="6659360" y="3379234"/>
            <a:ext cx="5423728" cy="338554"/>
          </a:xfrm>
          <a:prstGeom prst="rect">
            <a:avLst/>
          </a:prstGeom>
          <a:noFill/>
        </p:spPr>
        <p:txBody>
          <a:bodyPr wrap="square" rtlCol="0">
            <a:spAutoFit/>
          </a:bodyPr>
          <a:lstStyle/>
          <a:p>
            <a:pPr fontAlgn="base" latinLnBrk="1"/>
            <a:r>
              <a:rPr lang="en-US" sz="1600" dirty="0"/>
              <a:t>Mann-Whitney U p-value: 1.4152696845814793e-21, p &lt; 0.001</a:t>
            </a:r>
          </a:p>
        </p:txBody>
      </p:sp>
      <p:sp>
        <p:nvSpPr>
          <p:cNvPr id="15" name="TextBox 14">
            <a:extLst>
              <a:ext uri="{FF2B5EF4-FFF2-40B4-BE49-F238E27FC236}">
                <a16:creationId xmlns:a16="http://schemas.microsoft.com/office/drawing/2014/main" id="{00F72A21-7CA0-76DA-94F9-43BFB6C552DF}"/>
              </a:ext>
            </a:extLst>
          </p:cNvPr>
          <p:cNvSpPr txBox="1"/>
          <p:nvPr/>
        </p:nvSpPr>
        <p:spPr>
          <a:xfrm>
            <a:off x="8566078" y="3707899"/>
            <a:ext cx="1851918" cy="338554"/>
          </a:xfrm>
          <a:prstGeom prst="rect">
            <a:avLst/>
          </a:prstGeom>
          <a:noFill/>
        </p:spPr>
        <p:txBody>
          <a:bodyPr wrap="square">
            <a:spAutoFit/>
          </a:bodyPr>
          <a:lstStyle/>
          <a:p>
            <a:r>
              <a:rPr lang="en-US" sz="1600" dirty="0" err="1"/>
              <a:t>delta_Q</a:t>
            </a:r>
            <a:r>
              <a:rPr lang="en-US" sz="1600" dirty="0"/>
              <a:t> = -0.70</a:t>
            </a:r>
          </a:p>
        </p:txBody>
      </p:sp>
    </p:spTree>
    <p:extLst>
      <p:ext uri="{BB962C8B-B14F-4D97-AF65-F5344CB8AC3E}">
        <p14:creationId xmlns:p14="http://schemas.microsoft.com/office/powerpoint/2010/main" val="3363388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FA580-8F71-6F97-FAF8-BED0400CDCB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BA1D313-E6AA-54A1-490E-7F775AD9D8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7829" y="1096325"/>
            <a:ext cx="4109663" cy="36864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E16ECCF8-CB8E-4B47-3989-0A076AF0ECCB}"/>
              </a:ext>
            </a:extLst>
          </p:cNvPr>
          <p:cNvSpPr txBox="1"/>
          <p:nvPr/>
        </p:nvSpPr>
        <p:spPr>
          <a:xfrm>
            <a:off x="5702158" y="4924971"/>
            <a:ext cx="2845942" cy="1187572"/>
          </a:xfrm>
          <a:prstGeom prst="rect">
            <a:avLst/>
          </a:prstGeom>
          <a:noFill/>
          <a:ln>
            <a:solidFill>
              <a:schemeClr val="tx1"/>
            </a:solidFill>
          </a:ln>
        </p:spPr>
        <p:txBody>
          <a:bodyPr wrap="square" rtlCol="0">
            <a:spAutoFit/>
          </a:bodyPr>
          <a:lstStyle/>
          <a:p>
            <a:pPr algn="ctr" fontAlgn="base" latinLnBrk="1"/>
            <a:r>
              <a:rPr lang="en-US" sz="1400" dirty="0"/>
              <a:t>PC1 variance explained: 43.35%</a:t>
            </a:r>
          </a:p>
          <a:p>
            <a:pPr algn="ctr" fontAlgn="base" latinLnBrk="1"/>
            <a:r>
              <a:rPr lang="en-US" sz="1400" dirty="0"/>
              <a:t>PC2 variance explained: 19.29%</a:t>
            </a:r>
          </a:p>
          <a:p>
            <a:pPr algn="ctr" fontAlgn="base" latinLnBrk="1"/>
            <a:r>
              <a:rPr lang="en-US" sz="1400" dirty="0"/>
              <a:t>PC3 variance explained: 10.22%</a:t>
            </a:r>
          </a:p>
          <a:p>
            <a:pPr algn="ctr" fontAlgn="base" latinLnBrk="1"/>
            <a:r>
              <a:rPr lang="en-US" sz="1400" dirty="0"/>
              <a:t>Total (PC1+PC2): 62.63%</a:t>
            </a:r>
          </a:p>
          <a:p>
            <a:pPr algn="ctr" fontAlgn="base" latinLnBrk="1"/>
            <a:r>
              <a:rPr lang="en-US" sz="1400" dirty="0"/>
              <a:t>Total (PC1+PC2+PC3): 72.85%</a:t>
            </a:r>
          </a:p>
        </p:txBody>
      </p:sp>
      <p:sp>
        <p:nvSpPr>
          <p:cNvPr id="2" name="TextBox 1">
            <a:extLst>
              <a:ext uri="{FF2B5EF4-FFF2-40B4-BE49-F238E27FC236}">
                <a16:creationId xmlns:a16="http://schemas.microsoft.com/office/drawing/2014/main" id="{88C1EA09-9FFA-3FD7-55BD-CE3C1ADABD13}"/>
              </a:ext>
            </a:extLst>
          </p:cNvPr>
          <p:cNvSpPr txBox="1"/>
          <p:nvPr/>
        </p:nvSpPr>
        <p:spPr>
          <a:xfrm>
            <a:off x="1409254" y="166950"/>
            <a:ext cx="9910056" cy="369332"/>
          </a:xfrm>
          <a:prstGeom prst="rect">
            <a:avLst/>
          </a:prstGeom>
          <a:solidFill>
            <a:schemeClr val="accent2">
              <a:lumMod val="40000"/>
              <a:lumOff val="60000"/>
            </a:schemeClr>
          </a:solidFill>
        </p:spPr>
        <p:txBody>
          <a:bodyPr wrap="square" rtlCol="0">
            <a:spAutoFit/>
          </a:bodyPr>
          <a:lstStyle/>
          <a:p>
            <a:r>
              <a:rPr lang="en-US" dirty="0"/>
              <a:t>Do neural trajectories converge to a common state before and after Go, regardless of interval length?</a:t>
            </a:r>
          </a:p>
        </p:txBody>
      </p:sp>
      <p:sp>
        <p:nvSpPr>
          <p:cNvPr id="6" name="TextBox 5">
            <a:extLst>
              <a:ext uri="{FF2B5EF4-FFF2-40B4-BE49-F238E27FC236}">
                <a16:creationId xmlns:a16="http://schemas.microsoft.com/office/drawing/2014/main" id="{7869EBAF-6F44-3E78-A1DB-83B723BD781F}"/>
              </a:ext>
            </a:extLst>
          </p:cNvPr>
          <p:cNvSpPr txBox="1"/>
          <p:nvPr/>
        </p:nvSpPr>
        <p:spPr>
          <a:xfrm>
            <a:off x="667820" y="6263608"/>
            <a:ext cx="4109663" cy="338554"/>
          </a:xfrm>
          <a:prstGeom prst="rect">
            <a:avLst/>
          </a:prstGeom>
          <a:solidFill>
            <a:schemeClr val="accent5">
              <a:lumMod val="20000"/>
              <a:lumOff val="80000"/>
            </a:schemeClr>
          </a:solidFill>
        </p:spPr>
        <p:txBody>
          <a:bodyPr wrap="square" rtlCol="0">
            <a:spAutoFit/>
          </a:bodyPr>
          <a:lstStyle/>
          <a:p>
            <a:pPr algn="just"/>
            <a:r>
              <a:rPr lang="en-US" sz="1600" dirty="0"/>
              <a:t>DMFC follows temporal scaling ? </a:t>
            </a:r>
          </a:p>
        </p:txBody>
      </p:sp>
      <p:pic>
        <p:nvPicPr>
          <p:cNvPr id="8" name="Picture 7">
            <a:extLst>
              <a:ext uri="{FF2B5EF4-FFF2-40B4-BE49-F238E27FC236}">
                <a16:creationId xmlns:a16="http://schemas.microsoft.com/office/drawing/2014/main" id="{16508070-F446-2161-3927-5E82BC9433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019" y="732308"/>
            <a:ext cx="4414464" cy="44144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TextBox 9">
            <a:extLst>
              <a:ext uri="{FF2B5EF4-FFF2-40B4-BE49-F238E27FC236}">
                <a16:creationId xmlns:a16="http://schemas.microsoft.com/office/drawing/2014/main" id="{41545946-CB8A-26F7-3D99-2142D681862F}"/>
              </a:ext>
            </a:extLst>
          </p:cNvPr>
          <p:cNvSpPr txBox="1"/>
          <p:nvPr/>
        </p:nvSpPr>
        <p:spPr>
          <a:xfrm>
            <a:off x="883578" y="5342798"/>
            <a:ext cx="2938409" cy="584775"/>
          </a:xfrm>
          <a:prstGeom prst="rect">
            <a:avLst/>
          </a:prstGeom>
          <a:noFill/>
          <a:ln>
            <a:solidFill>
              <a:schemeClr val="tx1"/>
            </a:solidFill>
          </a:ln>
        </p:spPr>
        <p:txBody>
          <a:bodyPr wrap="square" rtlCol="0">
            <a:spAutoFit/>
          </a:bodyPr>
          <a:lstStyle/>
          <a:p>
            <a:pPr algn="ctr"/>
            <a:r>
              <a:rPr lang="en-US" sz="1600" dirty="0"/>
              <a:t>PC1+PC2 variance explained: 63.49876353215467</a:t>
            </a:r>
          </a:p>
        </p:txBody>
      </p:sp>
      <p:sp>
        <p:nvSpPr>
          <p:cNvPr id="5" name="TextBox 4">
            <a:extLst>
              <a:ext uri="{FF2B5EF4-FFF2-40B4-BE49-F238E27FC236}">
                <a16:creationId xmlns:a16="http://schemas.microsoft.com/office/drawing/2014/main" id="{438C4247-7D97-8A86-4BA5-2973E2071CF8}"/>
              </a:ext>
            </a:extLst>
          </p:cNvPr>
          <p:cNvSpPr txBox="1"/>
          <p:nvPr/>
        </p:nvSpPr>
        <p:spPr>
          <a:xfrm>
            <a:off x="9287838" y="2062376"/>
            <a:ext cx="2541142" cy="1754326"/>
          </a:xfrm>
          <a:prstGeom prst="rect">
            <a:avLst/>
          </a:prstGeom>
          <a:noFill/>
        </p:spPr>
        <p:txBody>
          <a:bodyPr wrap="square" rtlCol="0">
            <a:spAutoFit/>
          </a:bodyPr>
          <a:lstStyle/>
          <a:p>
            <a:pPr algn="just"/>
            <a:r>
              <a:rPr lang="en-US" dirty="0"/>
              <a:t>Reproduction is not controlled by a single fixed firing threshold because the end points don’t converge/ overlap at the one point. </a:t>
            </a:r>
          </a:p>
        </p:txBody>
      </p:sp>
    </p:spTree>
    <p:extLst>
      <p:ext uri="{BB962C8B-B14F-4D97-AF65-F5344CB8AC3E}">
        <p14:creationId xmlns:p14="http://schemas.microsoft.com/office/powerpoint/2010/main" val="1383249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38753-5E24-094F-674C-32734367BA5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0BB04A2-BE06-6F40-04AE-8FB924A0ECC0}"/>
              </a:ext>
            </a:extLst>
          </p:cNvPr>
          <p:cNvSpPr txBox="1"/>
          <p:nvPr/>
        </p:nvSpPr>
        <p:spPr>
          <a:xfrm>
            <a:off x="4719263" y="3938277"/>
            <a:ext cx="3037726" cy="2800767"/>
          </a:xfrm>
          <a:prstGeom prst="rect">
            <a:avLst/>
          </a:prstGeom>
          <a:noFill/>
          <a:ln>
            <a:solidFill>
              <a:schemeClr val="tx1"/>
            </a:solidFill>
          </a:ln>
        </p:spPr>
        <p:txBody>
          <a:bodyPr wrap="square" rtlCol="0">
            <a:spAutoFit/>
          </a:bodyPr>
          <a:lstStyle/>
          <a:p>
            <a:pPr algn="ctr" fontAlgn="base" latinLnBrk="1"/>
            <a:r>
              <a:rPr lang="en-US" sz="1600" dirty="0"/>
              <a:t>Correlation: 0.9141586034445451</a:t>
            </a:r>
          </a:p>
          <a:p>
            <a:pPr algn="ctr" fontAlgn="base" latinLnBrk="1"/>
            <a:r>
              <a:rPr lang="en-US" sz="1600" dirty="0"/>
              <a:t>         ts        speed</a:t>
            </a:r>
          </a:p>
          <a:p>
            <a:pPr algn="ctr" fontAlgn="base" latinLnBrk="1"/>
            <a:r>
              <a:rPr lang="en-US" sz="1600" dirty="0"/>
              <a:t>0   480.0  0.283329</a:t>
            </a:r>
          </a:p>
          <a:p>
            <a:pPr algn="ctr" fontAlgn="base" latinLnBrk="1"/>
            <a:r>
              <a:rPr lang="en-US" sz="1600" dirty="0"/>
              <a:t>1   560.0  0.274827</a:t>
            </a:r>
          </a:p>
          <a:p>
            <a:pPr algn="ctr" fontAlgn="base" latinLnBrk="1"/>
            <a:r>
              <a:rPr lang="en-US" sz="1600" dirty="0"/>
              <a:t>2   640.0  0.279902</a:t>
            </a:r>
          </a:p>
          <a:p>
            <a:pPr algn="ctr" fontAlgn="base" latinLnBrk="1"/>
            <a:r>
              <a:rPr lang="en-US" sz="1600" dirty="0"/>
              <a:t>3   720.0  0.274519</a:t>
            </a:r>
          </a:p>
          <a:p>
            <a:pPr algn="ctr" fontAlgn="base" latinLnBrk="1"/>
            <a:r>
              <a:rPr lang="en-US" sz="1600" dirty="0"/>
              <a:t>4   800.0  0.334442</a:t>
            </a:r>
          </a:p>
          <a:p>
            <a:pPr algn="ctr" fontAlgn="base" latinLnBrk="1"/>
            <a:r>
              <a:rPr lang="en-US" sz="1600" dirty="0"/>
              <a:t>5   900.0  0.345423</a:t>
            </a:r>
          </a:p>
          <a:p>
            <a:pPr algn="ctr" fontAlgn="base" latinLnBrk="1"/>
            <a:r>
              <a:rPr lang="en-US" sz="1600" dirty="0"/>
              <a:t>6  1000.0  0.337826</a:t>
            </a:r>
          </a:p>
          <a:p>
            <a:pPr algn="ctr" fontAlgn="base" latinLnBrk="1"/>
            <a:r>
              <a:rPr lang="en-US" sz="1600" dirty="0"/>
              <a:t>7  1100.0  0.356091</a:t>
            </a:r>
          </a:p>
          <a:p>
            <a:pPr algn="ctr" fontAlgn="base" latinLnBrk="1"/>
            <a:r>
              <a:rPr lang="en-US" sz="1600" dirty="0"/>
              <a:t>8  1200.0  0.366875</a:t>
            </a:r>
          </a:p>
        </p:txBody>
      </p:sp>
      <p:pic>
        <p:nvPicPr>
          <p:cNvPr id="6" name="Picture 5">
            <a:extLst>
              <a:ext uri="{FF2B5EF4-FFF2-40B4-BE49-F238E27FC236}">
                <a16:creationId xmlns:a16="http://schemas.microsoft.com/office/drawing/2014/main" id="{F2EC387F-6CD1-0A67-A3F8-C3B6954B86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4434" y="832016"/>
            <a:ext cx="4060303" cy="30468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0A6BD48B-B03D-951C-A4E7-404D1B3691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814" y="832016"/>
            <a:ext cx="3835517" cy="30261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TextBox 11">
            <a:extLst>
              <a:ext uri="{FF2B5EF4-FFF2-40B4-BE49-F238E27FC236}">
                <a16:creationId xmlns:a16="http://schemas.microsoft.com/office/drawing/2014/main" id="{49BFBCE3-4929-B017-91FF-1759BE419B13}"/>
              </a:ext>
            </a:extLst>
          </p:cNvPr>
          <p:cNvSpPr txBox="1"/>
          <p:nvPr/>
        </p:nvSpPr>
        <p:spPr>
          <a:xfrm>
            <a:off x="997332" y="4118793"/>
            <a:ext cx="2306482" cy="2585323"/>
          </a:xfrm>
          <a:prstGeom prst="rect">
            <a:avLst/>
          </a:prstGeom>
          <a:noFill/>
          <a:ln>
            <a:solidFill>
              <a:schemeClr val="tx1"/>
            </a:solidFill>
          </a:ln>
        </p:spPr>
        <p:txBody>
          <a:bodyPr wrap="square">
            <a:spAutoFit/>
          </a:bodyPr>
          <a:lstStyle/>
          <a:p>
            <a:pPr algn="ctr" fontAlgn="base" latinLnBrk="1">
              <a:buNone/>
            </a:pPr>
            <a:r>
              <a:rPr lang="en-US" dirty="0"/>
              <a:t>         </a:t>
            </a:r>
            <a:r>
              <a:rPr lang="en-US" sz="1600" dirty="0"/>
              <a:t>ts     curvature</a:t>
            </a:r>
          </a:p>
          <a:p>
            <a:pPr algn="ctr" fontAlgn="base" latinLnBrk="1">
              <a:buNone/>
            </a:pPr>
            <a:r>
              <a:rPr lang="en-US" sz="1600" dirty="0"/>
              <a:t>0   480.0   0.022210</a:t>
            </a:r>
          </a:p>
          <a:p>
            <a:pPr algn="ctr" fontAlgn="base" latinLnBrk="1">
              <a:buNone/>
            </a:pPr>
            <a:r>
              <a:rPr lang="en-US" sz="1600" dirty="0"/>
              <a:t>1   560.0   0.024561</a:t>
            </a:r>
          </a:p>
          <a:p>
            <a:pPr algn="ctr" fontAlgn="base" latinLnBrk="1">
              <a:buNone/>
            </a:pPr>
            <a:r>
              <a:rPr lang="en-US" sz="1600" dirty="0"/>
              <a:t>2   640.0   0.026870</a:t>
            </a:r>
          </a:p>
          <a:p>
            <a:pPr algn="ctr" fontAlgn="base" latinLnBrk="1">
              <a:buNone/>
            </a:pPr>
            <a:r>
              <a:rPr lang="en-US" sz="1600" dirty="0"/>
              <a:t>3   720.0   0.030243</a:t>
            </a:r>
          </a:p>
          <a:p>
            <a:pPr algn="ctr" fontAlgn="base" latinLnBrk="1">
              <a:buNone/>
            </a:pPr>
            <a:r>
              <a:rPr lang="en-US" sz="1600" dirty="0"/>
              <a:t>4   800.0   0.037823</a:t>
            </a:r>
          </a:p>
          <a:p>
            <a:pPr algn="ctr" fontAlgn="base" latinLnBrk="1">
              <a:buNone/>
            </a:pPr>
            <a:r>
              <a:rPr lang="en-US" sz="1600" dirty="0"/>
              <a:t>5   900.0   0.048632</a:t>
            </a:r>
          </a:p>
          <a:p>
            <a:pPr algn="ctr" fontAlgn="base" latinLnBrk="1">
              <a:buNone/>
            </a:pPr>
            <a:r>
              <a:rPr lang="en-US" sz="1600" dirty="0"/>
              <a:t>6  1000.0   0.056263</a:t>
            </a:r>
          </a:p>
          <a:p>
            <a:pPr algn="ctr" fontAlgn="base" latinLnBrk="1">
              <a:buNone/>
            </a:pPr>
            <a:r>
              <a:rPr lang="en-US" sz="1600" dirty="0"/>
              <a:t>7  1100.0   0.060953</a:t>
            </a:r>
          </a:p>
          <a:p>
            <a:pPr algn="ctr" fontAlgn="base" latinLnBrk="1">
              <a:buNone/>
            </a:pPr>
            <a:r>
              <a:rPr lang="en-US" sz="1600" dirty="0"/>
              <a:t>8  1200.0   0.070453</a:t>
            </a:r>
            <a:endParaRPr lang="en-US" sz="1600" b="0" i="0" dirty="0">
              <a:solidFill>
                <a:srgbClr val="FFFFFF"/>
              </a:solidFill>
              <a:effectLst/>
            </a:endParaRPr>
          </a:p>
        </p:txBody>
      </p:sp>
      <p:pic>
        <p:nvPicPr>
          <p:cNvPr id="14" name="Picture 13">
            <a:extLst>
              <a:ext uri="{FF2B5EF4-FFF2-40B4-BE49-F238E27FC236}">
                <a16:creationId xmlns:a16="http://schemas.microsoft.com/office/drawing/2014/main" id="{81EBB2A4-0F49-FA5F-961B-051334D85E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40840" y="803622"/>
            <a:ext cx="3721021" cy="30545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TextBox 14">
            <a:extLst>
              <a:ext uri="{FF2B5EF4-FFF2-40B4-BE49-F238E27FC236}">
                <a16:creationId xmlns:a16="http://schemas.microsoft.com/office/drawing/2014/main" id="{E4197A68-99B0-3519-907A-01F65E720D9F}"/>
              </a:ext>
            </a:extLst>
          </p:cNvPr>
          <p:cNvSpPr txBox="1"/>
          <p:nvPr/>
        </p:nvSpPr>
        <p:spPr>
          <a:xfrm>
            <a:off x="9172438" y="4118792"/>
            <a:ext cx="2736350" cy="2585323"/>
          </a:xfrm>
          <a:prstGeom prst="rect">
            <a:avLst/>
          </a:prstGeom>
          <a:noFill/>
          <a:ln>
            <a:solidFill>
              <a:schemeClr val="tx1"/>
            </a:solidFill>
          </a:ln>
        </p:spPr>
        <p:txBody>
          <a:bodyPr wrap="square" rtlCol="0">
            <a:spAutoFit/>
          </a:bodyPr>
          <a:lstStyle/>
          <a:p>
            <a:pPr algn="ctr" fontAlgn="base" latinLnBrk="1"/>
            <a:r>
              <a:rPr lang="en-US" dirty="0"/>
              <a:t>        </a:t>
            </a:r>
            <a:r>
              <a:rPr lang="en-US" sz="1600" dirty="0"/>
              <a:t>ts    occupancy</a:t>
            </a:r>
          </a:p>
          <a:p>
            <a:pPr algn="ctr" fontAlgn="base" latinLnBrk="1"/>
            <a:r>
              <a:rPr lang="en-US" sz="1600" dirty="0"/>
              <a:t>0   480.0   6.651488</a:t>
            </a:r>
          </a:p>
          <a:p>
            <a:pPr algn="ctr" fontAlgn="base" latinLnBrk="1"/>
            <a:r>
              <a:rPr lang="en-US" sz="1600" dirty="0"/>
              <a:t>1   560.0   5.953479</a:t>
            </a:r>
          </a:p>
          <a:p>
            <a:pPr algn="ctr" fontAlgn="base" latinLnBrk="1"/>
            <a:r>
              <a:rPr lang="en-US" sz="1600" dirty="0"/>
              <a:t>2   640.0   5.780364</a:t>
            </a:r>
          </a:p>
          <a:p>
            <a:pPr algn="ctr" fontAlgn="base" latinLnBrk="1"/>
            <a:r>
              <a:rPr lang="en-US" sz="1600" dirty="0"/>
              <a:t>3   720.0   5.173346</a:t>
            </a:r>
          </a:p>
          <a:p>
            <a:pPr algn="ctr" fontAlgn="base" latinLnBrk="1"/>
            <a:r>
              <a:rPr lang="en-US" sz="1600" dirty="0"/>
              <a:t>4   800.0   5.789598</a:t>
            </a:r>
          </a:p>
          <a:p>
            <a:pPr algn="ctr" fontAlgn="base" latinLnBrk="1"/>
            <a:r>
              <a:rPr lang="en-US" sz="1600" dirty="0"/>
              <a:t>5   900.0   5.492874</a:t>
            </a:r>
          </a:p>
          <a:p>
            <a:pPr algn="ctr" fontAlgn="base" latinLnBrk="1"/>
            <a:r>
              <a:rPr lang="en-US" sz="1600" dirty="0"/>
              <a:t>6  1000.0   4.964828</a:t>
            </a:r>
          </a:p>
          <a:p>
            <a:pPr algn="ctr" fontAlgn="base" latinLnBrk="1"/>
            <a:r>
              <a:rPr lang="en-US" sz="1600" dirty="0"/>
              <a:t>7  1100.0   5.141375</a:t>
            </a:r>
          </a:p>
          <a:p>
            <a:pPr algn="ctr" fontAlgn="base" latinLnBrk="1"/>
            <a:r>
              <a:rPr lang="en-US" sz="1600" dirty="0"/>
              <a:t>8  1200.0   4.903562</a:t>
            </a:r>
          </a:p>
        </p:txBody>
      </p:sp>
      <p:sp>
        <p:nvSpPr>
          <p:cNvPr id="2" name="TextBox 1">
            <a:extLst>
              <a:ext uri="{FF2B5EF4-FFF2-40B4-BE49-F238E27FC236}">
                <a16:creationId xmlns:a16="http://schemas.microsoft.com/office/drawing/2014/main" id="{CF62442E-4516-727A-799E-5409FFB5C2A3}"/>
              </a:ext>
            </a:extLst>
          </p:cNvPr>
          <p:cNvSpPr txBox="1"/>
          <p:nvPr/>
        </p:nvSpPr>
        <p:spPr>
          <a:xfrm>
            <a:off x="380143" y="97834"/>
            <a:ext cx="10695398" cy="646331"/>
          </a:xfrm>
          <a:prstGeom prst="rect">
            <a:avLst/>
          </a:prstGeom>
          <a:solidFill>
            <a:schemeClr val="accent5">
              <a:lumMod val="20000"/>
              <a:lumOff val="80000"/>
            </a:schemeClr>
          </a:solidFill>
        </p:spPr>
        <p:txBody>
          <a:bodyPr wrap="square" rtlCol="0">
            <a:spAutoFit/>
          </a:bodyPr>
          <a:lstStyle/>
          <a:p>
            <a:r>
              <a:rPr lang="en-US" dirty="0"/>
              <a:t>Longer intervals are not represented by exploring a larger neural space.</a:t>
            </a:r>
          </a:p>
          <a:p>
            <a:r>
              <a:rPr lang="en-US" dirty="0"/>
              <a:t>Longer intervals are represented by taking a more complex route through approximately the same neural space.</a:t>
            </a:r>
          </a:p>
        </p:txBody>
      </p:sp>
    </p:spTree>
    <p:extLst>
      <p:ext uri="{BB962C8B-B14F-4D97-AF65-F5344CB8AC3E}">
        <p14:creationId xmlns:p14="http://schemas.microsoft.com/office/powerpoint/2010/main" val="1188735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B8CB2AE-A44F-A8F7-2F76-9BE0345173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0094" y="3633370"/>
            <a:ext cx="4734713" cy="31069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FFA88DC6-0E3A-809B-5E9D-C10B1EDAA908}"/>
              </a:ext>
            </a:extLst>
          </p:cNvPr>
          <p:cNvSpPr txBox="1"/>
          <p:nvPr/>
        </p:nvSpPr>
        <p:spPr>
          <a:xfrm>
            <a:off x="1592494" y="4480147"/>
            <a:ext cx="5250095" cy="1477328"/>
          </a:xfrm>
          <a:prstGeom prst="rect">
            <a:avLst/>
          </a:prstGeom>
          <a:noFill/>
        </p:spPr>
        <p:txBody>
          <a:bodyPr wrap="square" rtlCol="0">
            <a:spAutoFit/>
          </a:bodyPr>
          <a:lstStyle/>
          <a:p>
            <a:pPr algn="just"/>
            <a:r>
              <a:rPr lang="en-US" dirty="0"/>
              <a:t>In the Go convergence state, despite beginning from different regions of state space and following distinct trajectories, all conditions exhibited a rapid reduction in distance immediately preceding movement initiation.</a:t>
            </a:r>
          </a:p>
        </p:txBody>
      </p:sp>
      <p:sp>
        <p:nvSpPr>
          <p:cNvPr id="5" name="TextBox 4">
            <a:extLst>
              <a:ext uri="{FF2B5EF4-FFF2-40B4-BE49-F238E27FC236}">
                <a16:creationId xmlns:a16="http://schemas.microsoft.com/office/drawing/2014/main" id="{24F10204-F3F4-B318-77C7-FBA66BC8FDE7}"/>
              </a:ext>
            </a:extLst>
          </p:cNvPr>
          <p:cNvSpPr txBox="1"/>
          <p:nvPr/>
        </p:nvSpPr>
        <p:spPr>
          <a:xfrm>
            <a:off x="1592494" y="246580"/>
            <a:ext cx="9030985" cy="369332"/>
          </a:xfrm>
          <a:prstGeom prst="rect">
            <a:avLst/>
          </a:prstGeom>
          <a:solidFill>
            <a:schemeClr val="accent5">
              <a:lumMod val="20000"/>
              <a:lumOff val="80000"/>
            </a:schemeClr>
          </a:solidFill>
        </p:spPr>
        <p:txBody>
          <a:bodyPr wrap="square" rtlCol="0">
            <a:spAutoFit/>
          </a:bodyPr>
          <a:lstStyle/>
          <a:p>
            <a:r>
              <a:rPr lang="en-US" dirty="0"/>
              <a:t>timing behavior is governed by internal neural dynamics rather than a simple sensory response</a:t>
            </a:r>
          </a:p>
        </p:txBody>
      </p:sp>
      <p:sp>
        <p:nvSpPr>
          <p:cNvPr id="6" name="TextBox 5">
            <a:extLst>
              <a:ext uri="{FF2B5EF4-FFF2-40B4-BE49-F238E27FC236}">
                <a16:creationId xmlns:a16="http://schemas.microsoft.com/office/drawing/2014/main" id="{3ACDE22A-4ACE-ACD6-5BAA-05DAEF925B90}"/>
              </a:ext>
            </a:extLst>
          </p:cNvPr>
          <p:cNvSpPr txBox="1"/>
          <p:nvPr/>
        </p:nvSpPr>
        <p:spPr>
          <a:xfrm>
            <a:off x="5322013" y="1899276"/>
            <a:ext cx="5661061" cy="923330"/>
          </a:xfrm>
          <a:prstGeom prst="rect">
            <a:avLst/>
          </a:prstGeom>
          <a:noFill/>
        </p:spPr>
        <p:txBody>
          <a:bodyPr wrap="square" rtlCol="0">
            <a:spAutoFit/>
          </a:bodyPr>
          <a:lstStyle/>
          <a:p>
            <a:pPr algn="just"/>
            <a:r>
              <a:rPr lang="en-US" dirty="0"/>
              <a:t>In the Set convergence state, every trajectory begins from a separate state space and all conditions exhibited a distant separation among themselves after the peak.  </a:t>
            </a:r>
          </a:p>
        </p:txBody>
      </p:sp>
      <p:sp>
        <p:nvSpPr>
          <p:cNvPr id="7" name="TextBox 6">
            <a:extLst>
              <a:ext uri="{FF2B5EF4-FFF2-40B4-BE49-F238E27FC236}">
                <a16:creationId xmlns:a16="http://schemas.microsoft.com/office/drawing/2014/main" id="{5D376F47-DA6D-D285-FD77-77C5064B417B}"/>
              </a:ext>
            </a:extLst>
          </p:cNvPr>
          <p:cNvSpPr txBox="1"/>
          <p:nvPr/>
        </p:nvSpPr>
        <p:spPr>
          <a:xfrm>
            <a:off x="1626620" y="5909295"/>
            <a:ext cx="5181842" cy="646331"/>
          </a:xfrm>
          <a:prstGeom prst="rect">
            <a:avLst/>
          </a:prstGeom>
          <a:solidFill>
            <a:schemeClr val="accent4">
              <a:lumMod val="20000"/>
              <a:lumOff val="80000"/>
            </a:schemeClr>
          </a:solidFill>
        </p:spPr>
        <p:txBody>
          <a:bodyPr wrap="square" rtlCol="0">
            <a:spAutoFit/>
          </a:bodyPr>
          <a:lstStyle/>
          <a:p>
            <a:pPr algn="ctr"/>
            <a:r>
              <a:rPr lang="en-US" dirty="0"/>
              <a:t>Interval-specific information is transformed into a common movement-execution representation</a:t>
            </a:r>
            <a:endParaRPr lang="en-US" sz="1600" dirty="0"/>
          </a:p>
        </p:txBody>
      </p:sp>
      <p:sp>
        <p:nvSpPr>
          <p:cNvPr id="8" name="TextBox 7">
            <a:extLst>
              <a:ext uri="{FF2B5EF4-FFF2-40B4-BE49-F238E27FC236}">
                <a16:creationId xmlns:a16="http://schemas.microsoft.com/office/drawing/2014/main" id="{76B349E2-16B9-2598-B6ED-0ABF0AE5D593}"/>
              </a:ext>
            </a:extLst>
          </p:cNvPr>
          <p:cNvSpPr txBox="1"/>
          <p:nvPr/>
        </p:nvSpPr>
        <p:spPr>
          <a:xfrm>
            <a:off x="5441637" y="1013194"/>
            <a:ext cx="5181842" cy="646331"/>
          </a:xfrm>
          <a:prstGeom prst="rect">
            <a:avLst/>
          </a:prstGeom>
          <a:solidFill>
            <a:schemeClr val="accent4">
              <a:lumMod val="20000"/>
              <a:lumOff val="80000"/>
            </a:schemeClr>
          </a:solidFill>
        </p:spPr>
        <p:txBody>
          <a:bodyPr wrap="square" rtlCol="0">
            <a:spAutoFit/>
          </a:bodyPr>
          <a:lstStyle/>
          <a:p>
            <a:pPr algn="ctr"/>
            <a:r>
              <a:rPr lang="en-US" dirty="0"/>
              <a:t>DMFC preserves interval-specific temporal information during interval encoding</a:t>
            </a:r>
            <a:endParaRPr lang="en-US" sz="1600" dirty="0"/>
          </a:p>
        </p:txBody>
      </p:sp>
      <p:sp>
        <p:nvSpPr>
          <p:cNvPr id="13" name="Arc 12">
            <a:extLst>
              <a:ext uri="{FF2B5EF4-FFF2-40B4-BE49-F238E27FC236}">
                <a16:creationId xmlns:a16="http://schemas.microsoft.com/office/drawing/2014/main" id="{57653D05-C99A-C40F-835D-3533F03ED7D0}"/>
              </a:ext>
            </a:extLst>
          </p:cNvPr>
          <p:cNvSpPr/>
          <p:nvPr/>
        </p:nvSpPr>
        <p:spPr>
          <a:xfrm>
            <a:off x="769091" y="5413347"/>
            <a:ext cx="897155" cy="1603213"/>
          </a:xfrm>
          <a:prstGeom prst="arc">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4" name="Oval 13">
            <a:extLst>
              <a:ext uri="{FF2B5EF4-FFF2-40B4-BE49-F238E27FC236}">
                <a16:creationId xmlns:a16="http://schemas.microsoft.com/office/drawing/2014/main" id="{6CD9E05B-2468-4FAA-8374-943A7E26C87A}"/>
              </a:ext>
            </a:extLst>
          </p:cNvPr>
          <p:cNvSpPr/>
          <p:nvPr/>
        </p:nvSpPr>
        <p:spPr>
          <a:xfrm>
            <a:off x="147505" y="4222668"/>
            <a:ext cx="1444989" cy="133834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dirty="0">
              <a:solidFill>
                <a:schemeClr val="tx1"/>
              </a:solidFill>
            </a:endParaRPr>
          </a:p>
          <a:p>
            <a:r>
              <a:rPr lang="en-US" sz="1200" b="1" dirty="0">
                <a:solidFill>
                  <a:schemeClr val="tx1"/>
                </a:solidFill>
              </a:rPr>
              <a:t>Output convergence/ movement invariant</a:t>
            </a:r>
            <a:br>
              <a:rPr lang="en-US" b="1" dirty="0"/>
            </a:br>
            <a:endParaRPr lang="en-US" b="1" dirty="0"/>
          </a:p>
        </p:txBody>
      </p:sp>
      <p:pic>
        <p:nvPicPr>
          <p:cNvPr id="9" name="Picture 8">
            <a:extLst>
              <a:ext uri="{FF2B5EF4-FFF2-40B4-BE49-F238E27FC236}">
                <a16:creationId xmlns:a16="http://schemas.microsoft.com/office/drawing/2014/main" id="{B1349725-014D-9DFD-B8EE-A795397747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354" y="780913"/>
            <a:ext cx="4946754" cy="32382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873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266A42F-BFFB-7BAD-CE45-DC46B3EA7E06}"/>
              </a:ext>
            </a:extLst>
          </p:cNvPr>
          <p:cNvGraphicFramePr>
            <a:graphicFrameLocks noGrp="1"/>
          </p:cNvGraphicFramePr>
          <p:nvPr>
            <p:extLst>
              <p:ext uri="{D42A27DB-BD31-4B8C-83A1-F6EECF244321}">
                <p14:modId xmlns:p14="http://schemas.microsoft.com/office/powerpoint/2010/main" val="1769600371"/>
              </p:ext>
            </p:extLst>
          </p:nvPr>
        </p:nvGraphicFramePr>
        <p:xfrm>
          <a:off x="6339155" y="422997"/>
          <a:ext cx="5640510" cy="5569131"/>
        </p:xfrm>
        <a:graphic>
          <a:graphicData uri="http://schemas.openxmlformats.org/drawingml/2006/table">
            <a:tbl>
              <a:tblPr/>
              <a:tblGrid>
                <a:gridCol w="924423">
                  <a:extLst>
                    <a:ext uri="{9D8B030D-6E8A-4147-A177-3AD203B41FA5}">
                      <a16:colId xmlns:a16="http://schemas.microsoft.com/office/drawing/2014/main" val="2548064722"/>
                    </a:ext>
                  </a:extLst>
                </a:gridCol>
                <a:gridCol w="1001109">
                  <a:extLst>
                    <a:ext uri="{9D8B030D-6E8A-4147-A177-3AD203B41FA5}">
                      <a16:colId xmlns:a16="http://schemas.microsoft.com/office/drawing/2014/main" val="2374252737"/>
                    </a:ext>
                  </a:extLst>
                </a:gridCol>
                <a:gridCol w="1375261">
                  <a:extLst>
                    <a:ext uri="{9D8B030D-6E8A-4147-A177-3AD203B41FA5}">
                      <a16:colId xmlns:a16="http://schemas.microsoft.com/office/drawing/2014/main" val="3164217431"/>
                    </a:ext>
                  </a:extLst>
                </a:gridCol>
                <a:gridCol w="1304475">
                  <a:extLst>
                    <a:ext uri="{9D8B030D-6E8A-4147-A177-3AD203B41FA5}">
                      <a16:colId xmlns:a16="http://schemas.microsoft.com/office/drawing/2014/main" val="1019035065"/>
                    </a:ext>
                  </a:extLst>
                </a:gridCol>
                <a:gridCol w="1035242">
                  <a:extLst>
                    <a:ext uri="{9D8B030D-6E8A-4147-A177-3AD203B41FA5}">
                      <a16:colId xmlns:a16="http://schemas.microsoft.com/office/drawing/2014/main" val="3377438998"/>
                    </a:ext>
                  </a:extLst>
                </a:gridCol>
              </a:tblGrid>
              <a:tr h="1269840">
                <a:tc>
                  <a:txBody>
                    <a:bodyPr/>
                    <a:lstStyle/>
                    <a:p>
                      <a:pPr rtl="0">
                        <a:buNone/>
                      </a:pPr>
                      <a:r>
                        <a:rPr lang="en-US" sz="1600" b="1" dirty="0">
                          <a:solidFill>
                            <a:srgbClr val="1F1F1F"/>
                          </a:solidFill>
                          <a:effectLst/>
                          <a:latin typeface="Google Sans Text"/>
                        </a:rPr>
                        <a:t>Interval (</a:t>
                      </a:r>
                      <a:r>
                        <a:rPr lang="en-US" sz="1600" b="1" dirty="0" err="1">
                          <a:solidFill>
                            <a:srgbClr val="1F1F1F"/>
                          </a:solidFill>
                          <a:effectLst/>
                          <a:latin typeface="Google Sans Text"/>
                        </a:rPr>
                        <a:t>ms</a:t>
                      </a:r>
                      <a:r>
                        <a:rPr lang="en-US" sz="1600" b="1" dirty="0">
                          <a:solidFill>
                            <a:srgbClr val="1F1F1F"/>
                          </a:solidFill>
                          <a:effectLst/>
                          <a:latin typeface="Google Sans Text"/>
                        </a:rPr>
                        <a:t>)</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tc>
                  <a:txBody>
                    <a:bodyPr/>
                    <a:lstStyle/>
                    <a:p>
                      <a:pPr rtl="0">
                        <a:buNone/>
                      </a:pPr>
                      <a:r>
                        <a:rPr lang="en-US" sz="1600" b="1" dirty="0">
                          <a:solidFill>
                            <a:srgbClr val="1F1F1F"/>
                          </a:solidFill>
                          <a:effectLst/>
                          <a:latin typeface="Google Sans Text"/>
                        </a:rPr>
                        <a:t>Mean Distance</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tc>
                  <a:txBody>
                    <a:bodyPr/>
                    <a:lstStyle/>
                    <a:p>
                      <a:pPr rtl="0">
                        <a:buNone/>
                      </a:pPr>
                      <a:r>
                        <a:rPr lang="en-US" sz="1600" b="1">
                          <a:solidFill>
                            <a:srgbClr val="1F1F1F"/>
                          </a:solidFill>
                          <a:effectLst/>
                          <a:latin typeface="Google Sans Text"/>
                        </a:rPr>
                        <a:t>Min Distance (Convergence)</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tc>
                  <a:txBody>
                    <a:bodyPr/>
                    <a:lstStyle/>
                    <a:p>
                      <a:pPr rtl="0">
                        <a:buNone/>
                      </a:pPr>
                      <a:r>
                        <a:rPr lang="en-US" sz="1600" b="1" dirty="0">
                          <a:solidFill>
                            <a:srgbClr val="1F1F1F"/>
                          </a:solidFill>
                          <a:effectLst/>
                          <a:latin typeface="Google Sans Text"/>
                        </a:rPr>
                        <a:t>Max Distance</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tc>
                  <a:txBody>
                    <a:bodyPr/>
                    <a:lstStyle/>
                    <a:p>
                      <a:pPr rtl="0">
                        <a:buNone/>
                      </a:pPr>
                      <a:r>
                        <a:rPr lang="en-US" sz="1600" b="1" dirty="0">
                          <a:solidFill>
                            <a:srgbClr val="1F1F1F"/>
                          </a:solidFill>
                          <a:effectLst/>
                          <a:latin typeface="Google Sans Text"/>
                        </a:rPr>
                        <a:t>Std Dev</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595321588"/>
                  </a:ext>
                </a:extLst>
              </a:tr>
              <a:tr h="477699">
                <a:tc>
                  <a:txBody>
                    <a:bodyPr/>
                    <a:lstStyle/>
                    <a:p>
                      <a:pPr rtl="0">
                        <a:buNone/>
                      </a:pPr>
                      <a:r>
                        <a:rPr lang="en-US" sz="1600" b="1">
                          <a:solidFill>
                            <a:srgbClr val="1F1F1F"/>
                          </a:solidFill>
                          <a:effectLst/>
                          <a:latin typeface="Google Sans Text"/>
                        </a:rPr>
                        <a:t>480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8.148</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12.503</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4.365</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6575543"/>
                  </a:ext>
                </a:extLst>
              </a:tr>
              <a:tr h="477699">
                <a:tc>
                  <a:txBody>
                    <a:bodyPr/>
                    <a:lstStyle/>
                    <a:p>
                      <a:pPr rtl="0">
                        <a:buNone/>
                      </a:pPr>
                      <a:r>
                        <a:rPr lang="en-US" sz="1600" b="1">
                          <a:solidFill>
                            <a:srgbClr val="1F1F1F"/>
                          </a:solidFill>
                          <a:effectLst/>
                          <a:latin typeface="Google Sans Text"/>
                        </a:rPr>
                        <a:t>560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8.870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14.011</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5.020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320001485"/>
                  </a:ext>
                </a:extLst>
              </a:tr>
              <a:tr h="477699">
                <a:tc>
                  <a:txBody>
                    <a:bodyPr/>
                    <a:lstStyle/>
                    <a:p>
                      <a:pPr rtl="0">
                        <a:buNone/>
                      </a:pPr>
                      <a:r>
                        <a:rPr lang="en-US" sz="1600" b="1">
                          <a:solidFill>
                            <a:srgbClr val="1F1F1F"/>
                          </a:solidFill>
                          <a:effectLst/>
                          <a:latin typeface="Google Sans Text"/>
                        </a:rPr>
                        <a:t>640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8.658</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14.646</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5.170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7676761"/>
                  </a:ext>
                </a:extLst>
              </a:tr>
              <a:tr h="477699">
                <a:tc>
                  <a:txBody>
                    <a:bodyPr/>
                    <a:lstStyle/>
                    <a:p>
                      <a:pPr rtl="0">
                        <a:buNone/>
                      </a:pPr>
                      <a:r>
                        <a:rPr lang="en-US" sz="1600" b="1">
                          <a:solidFill>
                            <a:srgbClr val="1F1F1F"/>
                          </a:solidFill>
                          <a:effectLst/>
                          <a:latin typeface="Google Sans Text"/>
                        </a:rPr>
                        <a:t>720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7.078</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13.516</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3.977</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17701406"/>
                  </a:ext>
                </a:extLst>
              </a:tr>
              <a:tr h="477699">
                <a:tc>
                  <a:txBody>
                    <a:bodyPr/>
                    <a:lstStyle/>
                    <a:p>
                      <a:pPr rtl="0">
                        <a:buNone/>
                      </a:pPr>
                      <a:r>
                        <a:rPr lang="en-US" sz="1600" b="1">
                          <a:solidFill>
                            <a:srgbClr val="1F1F1F"/>
                          </a:solidFill>
                          <a:effectLst/>
                          <a:latin typeface="Google Sans Text"/>
                        </a:rPr>
                        <a:t>800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6.688</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13.856</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4.627</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426437125"/>
                  </a:ext>
                </a:extLst>
              </a:tr>
              <a:tr h="477699">
                <a:tc>
                  <a:txBody>
                    <a:bodyPr/>
                    <a:lstStyle/>
                    <a:p>
                      <a:pPr rtl="0">
                        <a:buNone/>
                      </a:pPr>
                      <a:r>
                        <a:rPr lang="en-US" sz="1600" b="1">
                          <a:solidFill>
                            <a:srgbClr val="1F1F1F"/>
                          </a:solidFill>
                          <a:effectLst/>
                          <a:latin typeface="Google Sans Text"/>
                        </a:rPr>
                        <a:t>900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7.950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13.138</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4.087</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645311993"/>
                  </a:ext>
                </a:extLst>
              </a:tr>
              <a:tr h="477699">
                <a:tc>
                  <a:txBody>
                    <a:bodyPr/>
                    <a:lstStyle/>
                    <a:p>
                      <a:pPr rtl="0">
                        <a:buNone/>
                      </a:pPr>
                      <a:r>
                        <a:rPr lang="en-US" sz="1600" b="1">
                          <a:solidFill>
                            <a:srgbClr val="1F1F1F"/>
                          </a:solidFill>
                          <a:effectLst/>
                          <a:latin typeface="Google Sans Text"/>
                        </a:rPr>
                        <a:t>1000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7.514</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13.843</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3.914</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042681076"/>
                  </a:ext>
                </a:extLst>
              </a:tr>
              <a:tr h="477699">
                <a:tc>
                  <a:txBody>
                    <a:bodyPr/>
                    <a:lstStyle/>
                    <a:p>
                      <a:pPr rtl="0">
                        <a:buNone/>
                      </a:pPr>
                      <a:r>
                        <a:rPr lang="en-US" sz="1600" b="1">
                          <a:solidFill>
                            <a:srgbClr val="1F1F1F"/>
                          </a:solidFill>
                          <a:effectLst/>
                          <a:latin typeface="Google Sans Text"/>
                        </a:rPr>
                        <a:t>1100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6.976</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13.432</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3.491</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643707096"/>
                  </a:ext>
                </a:extLst>
              </a:tr>
              <a:tr h="477699">
                <a:tc>
                  <a:txBody>
                    <a:bodyPr/>
                    <a:lstStyle/>
                    <a:p>
                      <a:pPr rtl="0">
                        <a:buNone/>
                      </a:pPr>
                      <a:r>
                        <a:rPr lang="en-US" sz="1600" b="1">
                          <a:solidFill>
                            <a:srgbClr val="1F1F1F"/>
                          </a:solidFill>
                          <a:effectLst/>
                          <a:latin typeface="Google Sans Text"/>
                        </a:rPr>
                        <a:t>1200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6.156</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13.622</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3.435</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343194676"/>
                  </a:ext>
                </a:extLst>
              </a:tr>
            </a:tbl>
          </a:graphicData>
        </a:graphic>
      </p:graphicFrame>
      <p:sp>
        <p:nvSpPr>
          <p:cNvPr id="3" name="TextBox 2">
            <a:extLst>
              <a:ext uri="{FF2B5EF4-FFF2-40B4-BE49-F238E27FC236}">
                <a16:creationId xmlns:a16="http://schemas.microsoft.com/office/drawing/2014/main" id="{995C1A4D-393B-F628-3495-5E6AB086F006}"/>
              </a:ext>
            </a:extLst>
          </p:cNvPr>
          <p:cNvSpPr txBox="1"/>
          <p:nvPr/>
        </p:nvSpPr>
        <p:spPr>
          <a:xfrm>
            <a:off x="1266294" y="53666"/>
            <a:ext cx="5367390" cy="369332"/>
          </a:xfrm>
          <a:prstGeom prst="rect">
            <a:avLst/>
          </a:prstGeom>
          <a:noFill/>
        </p:spPr>
        <p:txBody>
          <a:bodyPr wrap="square" rtlCol="0">
            <a:spAutoFit/>
          </a:bodyPr>
          <a:lstStyle/>
          <a:p>
            <a:r>
              <a:rPr lang="en-US" b="1" dirty="0"/>
              <a:t>Converge towards the Ready State  </a:t>
            </a:r>
          </a:p>
        </p:txBody>
      </p:sp>
      <p:sp>
        <p:nvSpPr>
          <p:cNvPr id="4" name="TextBox 3">
            <a:extLst>
              <a:ext uri="{FF2B5EF4-FFF2-40B4-BE49-F238E27FC236}">
                <a16:creationId xmlns:a16="http://schemas.microsoft.com/office/drawing/2014/main" id="{574BCD53-B1EC-6E50-D05B-56A61F97D8DE}"/>
              </a:ext>
            </a:extLst>
          </p:cNvPr>
          <p:cNvSpPr txBox="1"/>
          <p:nvPr/>
        </p:nvSpPr>
        <p:spPr>
          <a:xfrm>
            <a:off x="7537807" y="41162"/>
            <a:ext cx="3537735" cy="369332"/>
          </a:xfrm>
          <a:prstGeom prst="rect">
            <a:avLst/>
          </a:prstGeom>
          <a:noFill/>
        </p:spPr>
        <p:txBody>
          <a:bodyPr wrap="square" rtlCol="0">
            <a:spAutoFit/>
          </a:bodyPr>
          <a:lstStyle/>
          <a:p>
            <a:r>
              <a:rPr lang="en-US" b="1" dirty="0"/>
              <a:t>Converge towards the Go State  </a:t>
            </a:r>
          </a:p>
        </p:txBody>
      </p:sp>
      <p:graphicFrame>
        <p:nvGraphicFramePr>
          <p:cNvPr id="6" name="Table 5">
            <a:extLst>
              <a:ext uri="{FF2B5EF4-FFF2-40B4-BE49-F238E27FC236}">
                <a16:creationId xmlns:a16="http://schemas.microsoft.com/office/drawing/2014/main" id="{170F3911-98C0-E4AC-3AC6-0009E97F4263}"/>
              </a:ext>
            </a:extLst>
          </p:cNvPr>
          <p:cNvGraphicFramePr>
            <a:graphicFrameLocks noGrp="1"/>
          </p:cNvGraphicFramePr>
          <p:nvPr>
            <p:extLst>
              <p:ext uri="{D42A27DB-BD31-4B8C-83A1-F6EECF244321}">
                <p14:modId xmlns:p14="http://schemas.microsoft.com/office/powerpoint/2010/main" val="3277463222"/>
              </p:ext>
            </p:extLst>
          </p:nvPr>
        </p:nvGraphicFramePr>
        <p:xfrm>
          <a:off x="212335" y="422998"/>
          <a:ext cx="5787774" cy="5569131"/>
        </p:xfrm>
        <a:graphic>
          <a:graphicData uri="http://schemas.openxmlformats.org/drawingml/2006/table">
            <a:tbl>
              <a:tblPr/>
              <a:tblGrid>
                <a:gridCol w="983718">
                  <a:extLst>
                    <a:ext uri="{9D8B030D-6E8A-4147-A177-3AD203B41FA5}">
                      <a16:colId xmlns:a16="http://schemas.microsoft.com/office/drawing/2014/main" val="1529096325"/>
                    </a:ext>
                  </a:extLst>
                </a:gridCol>
                <a:gridCol w="1152164">
                  <a:extLst>
                    <a:ext uri="{9D8B030D-6E8A-4147-A177-3AD203B41FA5}">
                      <a16:colId xmlns:a16="http://schemas.microsoft.com/office/drawing/2014/main" val="1361149294"/>
                    </a:ext>
                  </a:extLst>
                </a:gridCol>
                <a:gridCol w="1374513">
                  <a:extLst>
                    <a:ext uri="{9D8B030D-6E8A-4147-A177-3AD203B41FA5}">
                      <a16:colId xmlns:a16="http://schemas.microsoft.com/office/drawing/2014/main" val="2570448376"/>
                    </a:ext>
                  </a:extLst>
                </a:gridCol>
                <a:gridCol w="1119824">
                  <a:extLst>
                    <a:ext uri="{9D8B030D-6E8A-4147-A177-3AD203B41FA5}">
                      <a16:colId xmlns:a16="http://schemas.microsoft.com/office/drawing/2014/main" val="101038204"/>
                    </a:ext>
                  </a:extLst>
                </a:gridCol>
                <a:gridCol w="1157555">
                  <a:extLst>
                    <a:ext uri="{9D8B030D-6E8A-4147-A177-3AD203B41FA5}">
                      <a16:colId xmlns:a16="http://schemas.microsoft.com/office/drawing/2014/main" val="844732535"/>
                    </a:ext>
                  </a:extLst>
                </a:gridCol>
              </a:tblGrid>
              <a:tr h="1258536">
                <a:tc>
                  <a:txBody>
                    <a:bodyPr/>
                    <a:lstStyle/>
                    <a:p>
                      <a:pPr rtl="0">
                        <a:buNone/>
                      </a:pPr>
                      <a:r>
                        <a:rPr lang="en-US" sz="1600" b="1">
                          <a:solidFill>
                            <a:srgbClr val="1F1F1F"/>
                          </a:solidFill>
                          <a:effectLst/>
                          <a:latin typeface="Google Sans Text"/>
                        </a:rPr>
                        <a:t>Interval (ms)</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tc>
                  <a:txBody>
                    <a:bodyPr/>
                    <a:lstStyle/>
                    <a:p>
                      <a:pPr rtl="0">
                        <a:buNone/>
                      </a:pPr>
                      <a:r>
                        <a:rPr lang="en-US" sz="1600" b="1" dirty="0">
                          <a:solidFill>
                            <a:srgbClr val="1F1F1F"/>
                          </a:solidFill>
                          <a:effectLst/>
                          <a:latin typeface="Google Sans Text"/>
                        </a:rPr>
                        <a:t>Mean Distance</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tc>
                  <a:txBody>
                    <a:bodyPr/>
                    <a:lstStyle/>
                    <a:p>
                      <a:pPr rtl="0">
                        <a:buNone/>
                      </a:pPr>
                      <a:r>
                        <a:rPr lang="en-US" sz="1600" b="1" dirty="0">
                          <a:solidFill>
                            <a:srgbClr val="1F1F1F"/>
                          </a:solidFill>
                          <a:effectLst/>
                          <a:latin typeface="Google Sans Text"/>
                        </a:rPr>
                        <a:t>Min Distance (Convergence)</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tc>
                  <a:txBody>
                    <a:bodyPr/>
                    <a:lstStyle/>
                    <a:p>
                      <a:pPr rtl="0">
                        <a:buNone/>
                      </a:pPr>
                      <a:r>
                        <a:rPr lang="en-US" sz="1600" b="1">
                          <a:solidFill>
                            <a:srgbClr val="1F1F1F"/>
                          </a:solidFill>
                          <a:effectLst/>
                          <a:latin typeface="Google Sans Text"/>
                        </a:rPr>
                        <a:t>Max Distance</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tc>
                  <a:txBody>
                    <a:bodyPr/>
                    <a:lstStyle/>
                    <a:p>
                      <a:pPr rtl="0">
                        <a:buNone/>
                      </a:pPr>
                      <a:r>
                        <a:rPr lang="en-US" sz="1600" b="1" dirty="0">
                          <a:solidFill>
                            <a:srgbClr val="1F1F1F"/>
                          </a:solidFill>
                          <a:effectLst/>
                          <a:latin typeface="Google Sans Text"/>
                        </a:rPr>
                        <a:t>Std Dev</a:t>
                      </a:r>
                      <a:endParaRPr lang="en-US" sz="1600" dirty="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70495771"/>
                  </a:ext>
                </a:extLst>
              </a:tr>
              <a:tr h="478955">
                <a:tc>
                  <a:txBody>
                    <a:bodyPr/>
                    <a:lstStyle/>
                    <a:p>
                      <a:pPr rtl="0">
                        <a:buNone/>
                      </a:pPr>
                      <a:r>
                        <a:rPr lang="en-US" sz="1600" b="1">
                          <a:solidFill>
                            <a:srgbClr val="1F1F1F"/>
                          </a:solidFill>
                          <a:effectLst/>
                          <a:latin typeface="Google Sans Text"/>
                        </a:rPr>
                        <a:t>480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8.589285</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14.093250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4.996660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356872063"/>
                  </a:ext>
                </a:extLst>
              </a:tr>
              <a:tr h="478955">
                <a:tc>
                  <a:txBody>
                    <a:bodyPr/>
                    <a:lstStyle/>
                    <a:p>
                      <a:pPr rtl="0">
                        <a:buNone/>
                      </a:pPr>
                      <a:r>
                        <a:rPr lang="en-US" sz="1600" b="1">
                          <a:solidFill>
                            <a:srgbClr val="1F1F1F"/>
                          </a:solidFill>
                          <a:effectLst/>
                          <a:latin typeface="Google Sans Text"/>
                        </a:rPr>
                        <a:t>560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9.161250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14.480232</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4.908069</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990474222"/>
                  </a:ext>
                </a:extLst>
              </a:tr>
              <a:tr h="478955">
                <a:tc>
                  <a:txBody>
                    <a:bodyPr/>
                    <a:lstStyle/>
                    <a:p>
                      <a:pPr rtl="0">
                        <a:buNone/>
                      </a:pPr>
                      <a:r>
                        <a:rPr lang="en-US" sz="1600" b="1">
                          <a:solidFill>
                            <a:srgbClr val="1F1F1F"/>
                          </a:solidFill>
                          <a:effectLst/>
                          <a:latin typeface="Google Sans Text"/>
                        </a:rPr>
                        <a:t>640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10.539520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15.287977</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5.242636</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051121708"/>
                  </a:ext>
                </a:extLst>
              </a:tr>
              <a:tr h="478955">
                <a:tc>
                  <a:txBody>
                    <a:bodyPr/>
                    <a:lstStyle/>
                    <a:p>
                      <a:pPr rtl="0">
                        <a:buNone/>
                      </a:pPr>
                      <a:r>
                        <a:rPr lang="en-US" sz="1600" b="1">
                          <a:solidFill>
                            <a:srgbClr val="1F1F1F"/>
                          </a:solidFill>
                          <a:effectLst/>
                          <a:latin typeface="Google Sans Text"/>
                        </a:rPr>
                        <a:t>720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9.964909</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14.373720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4.554704</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071707761"/>
                  </a:ext>
                </a:extLst>
              </a:tr>
              <a:tr h="478955">
                <a:tc>
                  <a:txBody>
                    <a:bodyPr/>
                    <a:lstStyle/>
                    <a:p>
                      <a:pPr rtl="0">
                        <a:buNone/>
                      </a:pPr>
                      <a:r>
                        <a:rPr lang="en-US" sz="1600" b="1">
                          <a:solidFill>
                            <a:srgbClr val="1F1F1F"/>
                          </a:solidFill>
                          <a:effectLst/>
                          <a:latin typeface="Google Sans Text"/>
                        </a:rPr>
                        <a:t>800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9.129877</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13.888022</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3.912277</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86043001"/>
                  </a:ext>
                </a:extLst>
              </a:tr>
              <a:tr h="478955">
                <a:tc>
                  <a:txBody>
                    <a:bodyPr/>
                    <a:lstStyle/>
                    <a:p>
                      <a:pPr rtl="0">
                        <a:buNone/>
                      </a:pPr>
                      <a:r>
                        <a:rPr lang="en-US" sz="1600" b="1">
                          <a:solidFill>
                            <a:srgbClr val="1F1F1F"/>
                          </a:solidFill>
                          <a:effectLst/>
                          <a:latin typeface="Google Sans Text"/>
                        </a:rPr>
                        <a:t>900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8.681438</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13.437705</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3.702955</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937513465"/>
                  </a:ext>
                </a:extLst>
              </a:tr>
              <a:tr h="478955">
                <a:tc>
                  <a:txBody>
                    <a:bodyPr/>
                    <a:lstStyle/>
                    <a:p>
                      <a:pPr rtl="0">
                        <a:buNone/>
                      </a:pPr>
                      <a:r>
                        <a:rPr lang="en-US" sz="1600" b="1">
                          <a:solidFill>
                            <a:srgbClr val="1F1F1F"/>
                          </a:solidFill>
                          <a:effectLst/>
                          <a:latin typeface="Google Sans Text"/>
                        </a:rPr>
                        <a:t>1000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9.562182</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13.451455</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3.850856</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096862806"/>
                  </a:ext>
                </a:extLst>
              </a:tr>
              <a:tr h="478955">
                <a:tc>
                  <a:txBody>
                    <a:bodyPr/>
                    <a:lstStyle/>
                    <a:p>
                      <a:pPr rtl="0">
                        <a:buNone/>
                      </a:pPr>
                      <a:r>
                        <a:rPr lang="en-US" sz="1600" b="1">
                          <a:solidFill>
                            <a:srgbClr val="1F1F1F"/>
                          </a:solidFill>
                          <a:effectLst/>
                          <a:latin typeface="Google Sans Text"/>
                        </a:rPr>
                        <a:t>1100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9.555201</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12.905279</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3.743556</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933087736"/>
                  </a:ext>
                </a:extLst>
              </a:tr>
              <a:tr h="478955">
                <a:tc>
                  <a:txBody>
                    <a:bodyPr/>
                    <a:lstStyle/>
                    <a:p>
                      <a:pPr rtl="0">
                        <a:buNone/>
                      </a:pPr>
                      <a:r>
                        <a:rPr lang="en-US" sz="1600" b="1">
                          <a:solidFill>
                            <a:srgbClr val="1F1F1F"/>
                          </a:solidFill>
                          <a:effectLst/>
                          <a:latin typeface="Google Sans Text"/>
                        </a:rPr>
                        <a:t>1200</a:t>
                      </a:r>
                      <a:endParaRPr lang="en-US" sz="1600">
                        <a:solidFill>
                          <a:srgbClr val="1F1F1F"/>
                        </a:solidFill>
                        <a:effectLst/>
                        <a:latin typeface="Google Sans Text"/>
                      </a:endParaRP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9.246513</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0.0</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13.689763</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tc>
                  <a:txBody>
                    <a:bodyPr/>
                    <a:lstStyle/>
                    <a:p>
                      <a:pPr rtl="0">
                        <a:buNone/>
                      </a:pPr>
                      <a:r>
                        <a:rPr lang="en-US" sz="1600" dirty="0">
                          <a:solidFill>
                            <a:srgbClr val="1F1F1F"/>
                          </a:solidFill>
                          <a:effectLst/>
                          <a:latin typeface="Google Sans Text"/>
                        </a:rPr>
                        <a:t>3.479004</a:t>
                      </a:r>
                    </a:p>
                  </a:txBody>
                  <a:tcPr marL="76200" marR="76200" marT="50800" marB="50800" anchor="ctr">
                    <a:lnL w="6350" cap="flat" cmpd="sng" algn="ctr">
                      <a:solidFill>
                        <a:srgbClr val="C4C7C5"/>
                      </a:solidFill>
                      <a:prstDash val="solid"/>
                      <a:round/>
                      <a:headEnd type="none" w="med" len="med"/>
                      <a:tailEnd type="none" w="med" len="med"/>
                    </a:lnL>
                    <a:lnR w="6350" cap="flat" cmpd="sng" algn="ctr">
                      <a:solidFill>
                        <a:srgbClr val="C4C7C5"/>
                      </a:solidFill>
                      <a:prstDash val="solid"/>
                      <a:round/>
                      <a:headEnd type="none" w="med" len="med"/>
                      <a:tailEnd type="none" w="med" len="med"/>
                    </a:lnR>
                    <a:lnT w="6350" cap="flat" cmpd="sng" algn="ctr">
                      <a:solidFill>
                        <a:srgbClr val="C4C7C5"/>
                      </a:solidFill>
                      <a:prstDash val="solid"/>
                      <a:round/>
                      <a:headEnd type="none" w="med" len="med"/>
                      <a:tailEnd type="none" w="med" len="med"/>
                    </a:lnT>
                    <a:lnB w="635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170022767"/>
                  </a:ext>
                </a:extLst>
              </a:tr>
            </a:tbl>
          </a:graphicData>
        </a:graphic>
      </p:graphicFrame>
      <mc:AlternateContent xmlns:mc="http://schemas.openxmlformats.org/markup-compatibility/2006" xmlns:a14="http://schemas.microsoft.com/office/drawing/2010/main">
        <mc:Choice Requires="a14">
          <p:sp>
            <p:nvSpPr>
              <p:cNvPr id="8" name="Rectangle 1">
                <a:extLst>
                  <a:ext uri="{FF2B5EF4-FFF2-40B4-BE49-F238E27FC236}">
                    <a16:creationId xmlns:a16="http://schemas.microsoft.com/office/drawing/2014/main" id="{A252411B-C6DC-955B-5041-F13C4BACD75A}"/>
                  </a:ext>
                </a:extLst>
              </p:cNvPr>
              <p:cNvSpPr>
                <a:spLocks noChangeArrowheads="1"/>
              </p:cNvSpPr>
              <p:nvPr/>
            </p:nvSpPr>
            <p:spPr bwMode="auto">
              <a:xfrm>
                <a:off x="2839093" y="6189297"/>
                <a:ext cx="6513814" cy="34432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1600" b="1" dirty="0">
                    <a:latin typeface="Google Sans Text"/>
                  </a:rPr>
                  <a:t>Distance</a:t>
                </a:r>
                <a:r>
                  <a:rPr kumimoji="0" lang="en-US" altLang="en-US" sz="1600" b="0" i="0" u="none" strike="noStrike" cap="none" normalizeH="0" baseline="0" dirty="0">
                    <a:ln>
                      <a:noFill/>
                    </a:ln>
                    <a:solidFill>
                      <a:schemeClr val="tx1"/>
                    </a:solidFill>
                    <a:effectLst/>
                    <a:latin typeface="Google Sans Text"/>
                  </a:rPr>
                  <a:t> = </a:t>
                </a:r>
                <a14:m>
                  <m:oMath xmlns:m="http://schemas.openxmlformats.org/officeDocument/2006/math">
                    <m:rad>
                      <m:radPr>
                        <m:degHide m:val="on"/>
                        <m:ctrlPr>
                          <a:rPr kumimoji="0" lang="en-US" altLang="en-US" sz="1600" b="0" i="1" u="none" strike="noStrike" cap="none" normalizeH="0" baseline="0" dirty="0" smtClean="0">
                            <a:ln>
                              <a:noFill/>
                            </a:ln>
                            <a:solidFill>
                              <a:schemeClr val="tx1"/>
                            </a:solidFill>
                            <a:effectLst/>
                            <a:latin typeface="Cambria Math" panose="02040503050406030204" pitchFamily="18" charset="0"/>
                          </a:rPr>
                        </m:ctrlPr>
                      </m:radPr>
                      <m:deg/>
                      <m:e>
                        <m:r>
                          <a:rPr lang="en-US" altLang="en-US" sz="1600" i="1" dirty="0">
                            <a:latin typeface="Cambria Math" panose="02040503050406030204" pitchFamily="18" charset="0"/>
                          </a:rPr>
                          <m:t>{</m:t>
                        </m:r>
                        <m:sSup>
                          <m:sSupPr>
                            <m:ctrlPr>
                              <a:rPr lang="en-US" altLang="en-US" sz="1600" i="1" dirty="0" smtClean="0">
                                <a:latin typeface="Cambria Math" panose="02040503050406030204" pitchFamily="18" charset="0"/>
                              </a:rPr>
                            </m:ctrlPr>
                          </m:sSupPr>
                          <m:e>
                            <m:r>
                              <a:rPr lang="en-US" altLang="en-US" sz="1600" b="0" i="1" dirty="0" smtClean="0">
                                <a:latin typeface="Cambria Math" panose="02040503050406030204" pitchFamily="18" charset="0"/>
                              </a:rPr>
                              <m:t>(</m:t>
                            </m:r>
                            <m:r>
                              <a:rPr lang="en-US" altLang="en-US" sz="1600" i="1" dirty="0">
                                <a:latin typeface="Cambria Math" panose="02040503050406030204" pitchFamily="18" charset="0"/>
                              </a:rPr>
                              <m:t>𝑃𝐶</m:t>
                            </m:r>
                            <m:r>
                              <a:rPr lang="en-US" altLang="en-US" sz="1600" i="1" dirty="0">
                                <a:latin typeface="Cambria Math" panose="02040503050406030204" pitchFamily="18" charset="0"/>
                              </a:rPr>
                              <m:t>1</m:t>
                            </m:r>
                            <m:r>
                              <a:rPr lang="en-US" altLang="en-US" sz="1600" i="1" baseline="-25000" dirty="0">
                                <a:latin typeface="Cambria Math" panose="02040503050406030204" pitchFamily="18" charset="0"/>
                              </a:rPr>
                              <m:t>𝑡</m:t>
                            </m:r>
                            <m:r>
                              <a:rPr lang="en-US" altLang="en-US" sz="1600" i="1" dirty="0">
                                <a:latin typeface="Cambria Math" panose="02040503050406030204" pitchFamily="18" charset="0"/>
                              </a:rPr>
                              <m:t> − </m:t>
                            </m:r>
                            <m:r>
                              <a:rPr lang="en-US" altLang="en-US" sz="1600" i="1" dirty="0">
                                <a:latin typeface="Cambria Math" panose="02040503050406030204" pitchFamily="18" charset="0"/>
                              </a:rPr>
                              <m:t>𝑃𝐶</m:t>
                            </m:r>
                            <m:r>
                              <a:rPr lang="en-US" altLang="en-US" sz="1600" i="1" dirty="0">
                                <a:latin typeface="Cambria Math" panose="02040503050406030204" pitchFamily="18" charset="0"/>
                              </a:rPr>
                              <m:t>1</m:t>
                            </m:r>
                            <m:r>
                              <a:rPr lang="en-US" altLang="en-US" sz="1600" i="1" baseline="-25000" dirty="0">
                                <a:latin typeface="Cambria Math" panose="02040503050406030204" pitchFamily="18" charset="0"/>
                              </a:rPr>
                              <m:t>𝑔𝑜</m:t>
                            </m:r>
                            <m:r>
                              <a:rPr lang="en-US" altLang="en-US" sz="1600" i="1" dirty="0">
                                <a:latin typeface="Cambria Math" panose="02040503050406030204" pitchFamily="18" charset="0"/>
                              </a:rPr>
                              <m:t>)</m:t>
                            </m:r>
                          </m:e>
                          <m:sup>
                            <m:r>
                              <a:rPr lang="en-US" altLang="en-US" sz="1600" i="1" dirty="0" smtClean="0">
                                <a:latin typeface="Cambria Math" panose="02040503050406030204" pitchFamily="18" charset="0"/>
                              </a:rPr>
                              <m:t>2</m:t>
                            </m:r>
                          </m:sup>
                        </m:sSup>
                        <m:r>
                          <a:rPr lang="en-US" altLang="en-US" sz="1600" i="1" dirty="0">
                            <a:latin typeface="Cambria Math" panose="02040503050406030204" pitchFamily="18" charset="0"/>
                          </a:rPr>
                          <m:t> + </m:t>
                        </m:r>
                        <m:sSup>
                          <m:sSupPr>
                            <m:ctrlPr>
                              <a:rPr lang="en-US" altLang="en-US" sz="1600" i="1" dirty="0" smtClean="0">
                                <a:latin typeface="Cambria Math" panose="02040503050406030204" pitchFamily="18" charset="0"/>
                              </a:rPr>
                            </m:ctrlPr>
                          </m:sSupPr>
                          <m:e>
                            <m:r>
                              <a:rPr lang="en-US" altLang="en-US" sz="1600" i="1" dirty="0">
                                <a:latin typeface="Cambria Math" panose="02040503050406030204" pitchFamily="18" charset="0"/>
                              </a:rPr>
                              <m:t>(</m:t>
                            </m:r>
                            <m:r>
                              <a:rPr lang="en-US" altLang="en-US" sz="1600" i="1" dirty="0">
                                <a:latin typeface="Cambria Math" panose="02040503050406030204" pitchFamily="18" charset="0"/>
                              </a:rPr>
                              <m:t>𝑃𝐶</m:t>
                            </m:r>
                            <m:r>
                              <a:rPr lang="en-US" altLang="en-US" sz="1600" i="1" dirty="0">
                                <a:latin typeface="Cambria Math" panose="02040503050406030204" pitchFamily="18" charset="0"/>
                              </a:rPr>
                              <m:t>2</m:t>
                            </m:r>
                            <m:r>
                              <a:rPr lang="en-US" altLang="en-US" sz="1600" i="1" baseline="-25000" dirty="0">
                                <a:latin typeface="Cambria Math" panose="02040503050406030204" pitchFamily="18" charset="0"/>
                              </a:rPr>
                              <m:t>𝑡</m:t>
                            </m:r>
                            <m:r>
                              <a:rPr lang="en-US" altLang="en-US" sz="1600" i="1" dirty="0">
                                <a:latin typeface="Cambria Math" panose="02040503050406030204" pitchFamily="18" charset="0"/>
                              </a:rPr>
                              <m:t> − </m:t>
                            </m:r>
                            <m:r>
                              <a:rPr lang="en-US" altLang="en-US" sz="1600" i="1" dirty="0">
                                <a:latin typeface="Cambria Math" panose="02040503050406030204" pitchFamily="18" charset="0"/>
                              </a:rPr>
                              <m:t>𝑃𝐶</m:t>
                            </m:r>
                            <m:r>
                              <a:rPr lang="en-US" altLang="en-US" sz="1600" i="1" dirty="0">
                                <a:latin typeface="Cambria Math" panose="02040503050406030204" pitchFamily="18" charset="0"/>
                              </a:rPr>
                              <m:t>2</m:t>
                            </m:r>
                            <m:r>
                              <a:rPr lang="en-US" altLang="en-US" sz="1600" i="1" baseline="-25000" dirty="0">
                                <a:latin typeface="Cambria Math" panose="02040503050406030204" pitchFamily="18" charset="0"/>
                              </a:rPr>
                              <m:t>𝑔𝑜</m:t>
                            </m:r>
                            <m:r>
                              <a:rPr lang="en-US" altLang="en-US" sz="1600" i="1" dirty="0">
                                <a:latin typeface="Cambria Math" panose="02040503050406030204" pitchFamily="18" charset="0"/>
                              </a:rPr>
                              <m:t>)</m:t>
                            </m:r>
                          </m:e>
                          <m:sup>
                            <m:r>
                              <a:rPr lang="en-US" altLang="en-US" sz="1600" i="1" dirty="0" smtClean="0">
                                <a:latin typeface="Cambria Math" panose="02040503050406030204" pitchFamily="18" charset="0"/>
                              </a:rPr>
                              <m:t>2</m:t>
                            </m:r>
                          </m:sup>
                        </m:sSup>
                        <m:r>
                          <a:rPr lang="en-US" altLang="en-US" sz="1600" i="1" dirty="0">
                            <a:latin typeface="Cambria Math" panose="02040503050406030204" pitchFamily="18" charset="0"/>
                          </a:rPr>
                          <m:t>+ </m:t>
                        </m:r>
                        <m:sSup>
                          <m:sSupPr>
                            <m:ctrlPr>
                              <a:rPr lang="en-US" altLang="en-US" sz="1600" i="1" dirty="0" smtClean="0">
                                <a:latin typeface="Cambria Math" panose="02040503050406030204" pitchFamily="18" charset="0"/>
                              </a:rPr>
                            </m:ctrlPr>
                          </m:sSupPr>
                          <m:e>
                            <m:r>
                              <a:rPr lang="en-US" altLang="en-US" sz="1600" i="1" dirty="0">
                                <a:latin typeface="Cambria Math" panose="02040503050406030204" pitchFamily="18" charset="0"/>
                              </a:rPr>
                              <m:t>(</m:t>
                            </m:r>
                            <m:r>
                              <a:rPr lang="en-US" altLang="en-US" sz="1600" i="1" dirty="0">
                                <a:latin typeface="Cambria Math" panose="02040503050406030204" pitchFamily="18" charset="0"/>
                              </a:rPr>
                              <m:t>𝑃𝐶</m:t>
                            </m:r>
                            <m:r>
                              <a:rPr lang="en-US" altLang="en-US" sz="1600" i="1" dirty="0">
                                <a:latin typeface="Cambria Math" panose="02040503050406030204" pitchFamily="18" charset="0"/>
                              </a:rPr>
                              <m:t>3</m:t>
                            </m:r>
                            <m:r>
                              <a:rPr lang="en-US" altLang="en-US" sz="1600" i="1" baseline="-25000" dirty="0">
                                <a:latin typeface="Cambria Math" panose="02040503050406030204" pitchFamily="18" charset="0"/>
                              </a:rPr>
                              <m:t>𝑡</m:t>
                            </m:r>
                            <m:r>
                              <a:rPr lang="en-US" altLang="en-US" sz="1600" i="1" dirty="0">
                                <a:latin typeface="Cambria Math" panose="02040503050406030204" pitchFamily="18" charset="0"/>
                              </a:rPr>
                              <m:t> − </m:t>
                            </m:r>
                            <m:r>
                              <a:rPr lang="en-US" altLang="en-US" sz="1600" i="1" dirty="0">
                                <a:latin typeface="Cambria Math" panose="02040503050406030204" pitchFamily="18" charset="0"/>
                              </a:rPr>
                              <m:t>𝑃𝐶</m:t>
                            </m:r>
                            <m:r>
                              <a:rPr lang="en-US" altLang="en-US" sz="1600" i="1" dirty="0">
                                <a:latin typeface="Cambria Math" panose="02040503050406030204" pitchFamily="18" charset="0"/>
                              </a:rPr>
                              <m:t>3</m:t>
                            </m:r>
                            <m:r>
                              <a:rPr lang="en-US" altLang="en-US" sz="1600" i="1" baseline="-25000" dirty="0">
                                <a:latin typeface="Cambria Math" panose="02040503050406030204" pitchFamily="18" charset="0"/>
                              </a:rPr>
                              <m:t>𝑔𝑜</m:t>
                            </m:r>
                            <m:r>
                              <a:rPr lang="en-US" altLang="en-US" sz="1600" i="1" dirty="0">
                                <a:latin typeface="Cambria Math" panose="02040503050406030204" pitchFamily="18" charset="0"/>
                              </a:rPr>
                              <m:t>)</m:t>
                            </m:r>
                          </m:e>
                          <m:sup>
                            <m:r>
                              <a:rPr lang="en-US" altLang="en-US" sz="1600" i="1" dirty="0" smtClean="0">
                                <a:latin typeface="Cambria Math" panose="02040503050406030204" pitchFamily="18" charset="0"/>
                              </a:rPr>
                              <m:t>2</m:t>
                            </m:r>
                          </m:sup>
                        </m:sSup>
                        <m:r>
                          <a:rPr lang="en-US" altLang="en-US" sz="1600" i="1" dirty="0">
                            <a:latin typeface="Cambria Math" panose="02040503050406030204" pitchFamily="18" charset="0"/>
                          </a:rPr>
                          <m:t>}</m:t>
                        </m:r>
                      </m:e>
                    </m:rad>
                  </m:oMath>
                </a14:m>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mc:Choice>
        <mc:Fallback xmlns="">
          <p:sp>
            <p:nvSpPr>
              <p:cNvPr id="8" name="Rectangle 1">
                <a:extLst>
                  <a:ext uri="{FF2B5EF4-FFF2-40B4-BE49-F238E27FC236}">
                    <a16:creationId xmlns:a16="http://schemas.microsoft.com/office/drawing/2014/main" id="{A252411B-C6DC-955B-5041-F13C4BACD75A}"/>
                  </a:ext>
                </a:extLst>
              </p:cNvPr>
              <p:cNvSpPr>
                <a:spLocks noRot="1" noChangeAspect="1" noMove="1" noResize="1" noEditPoints="1" noAdjustHandles="1" noChangeArrowheads="1" noChangeShapeType="1" noTextEdit="1"/>
              </p:cNvSpPr>
              <p:nvPr/>
            </p:nvSpPr>
            <p:spPr bwMode="auto">
              <a:xfrm>
                <a:off x="2839093" y="6189297"/>
                <a:ext cx="6513814" cy="344325"/>
              </a:xfrm>
              <a:prstGeom prst="rect">
                <a:avLst/>
              </a:prstGeom>
              <a:blipFill>
                <a:blip r:embed="rId2"/>
                <a:stretch>
                  <a:fillRect l="-562" t="-3509" b="-2105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453375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2D50DF-B62D-A82D-8CB2-B2A98A5505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4583" y="468520"/>
            <a:ext cx="4111123" cy="32484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7369F1E3-6F7D-CECF-41BF-8F5D710F9EB9}"/>
              </a:ext>
            </a:extLst>
          </p:cNvPr>
          <p:cNvSpPr txBox="1"/>
          <p:nvPr/>
        </p:nvSpPr>
        <p:spPr>
          <a:xfrm>
            <a:off x="2986356" y="5658239"/>
            <a:ext cx="7308352" cy="923330"/>
          </a:xfrm>
          <a:prstGeom prst="rect">
            <a:avLst/>
          </a:prstGeom>
          <a:solidFill>
            <a:schemeClr val="accent5">
              <a:lumMod val="20000"/>
              <a:lumOff val="80000"/>
            </a:schemeClr>
          </a:solidFill>
        </p:spPr>
        <p:txBody>
          <a:bodyPr wrap="square" rtlCol="0">
            <a:spAutoFit/>
          </a:bodyPr>
          <a:lstStyle/>
          <a:p>
            <a:pPr algn="just"/>
            <a:r>
              <a:rPr lang="en-US" dirty="0"/>
              <a:t>Low-dimensional structure is a hallmark of neural dynamical systems and has been reported in </a:t>
            </a:r>
            <a:r>
              <a:rPr lang="en-US" dirty="0">
                <a:solidFill>
                  <a:srgbClr val="C00000"/>
                </a:solidFill>
              </a:rPr>
              <a:t>motor cortex, premotor cortex, </a:t>
            </a:r>
            <a:r>
              <a:rPr lang="en-US" dirty="0"/>
              <a:t>and</a:t>
            </a:r>
            <a:r>
              <a:rPr lang="en-US" dirty="0">
                <a:solidFill>
                  <a:srgbClr val="C00000"/>
                </a:solidFill>
              </a:rPr>
              <a:t> dorsomedial frontal cortex </a:t>
            </a:r>
            <a:r>
              <a:rPr lang="en-US" dirty="0"/>
              <a:t>during timing tasks.</a:t>
            </a:r>
          </a:p>
        </p:txBody>
      </p:sp>
      <p:sp>
        <p:nvSpPr>
          <p:cNvPr id="6" name="TextBox 5">
            <a:extLst>
              <a:ext uri="{FF2B5EF4-FFF2-40B4-BE49-F238E27FC236}">
                <a16:creationId xmlns:a16="http://schemas.microsoft.com/office/drawing/2014/main" id="{65CD1DBB-CAE2-D050-FD4A-4A6ECF987043}"/>
              </a:ext>
            </a:extLst>
          </p:cNvPr>
          <p:cNvSpPr txBox="1"/>
          <p:nvPr/>
        </p:nvSpPr>
        <p:spPr>
          <a:xfrm>
            <a:off x="7945347" y="878288"/>
            <a:ext cx="1273997" cy="2554545"/>
          </a:xfrm>
          <a:prstGeom prst="rect">
            <a:avLst/>
          </a:prstGeom>
          <a:noFill/>
          <a:ln>
            <a:solidFill>
              <a:schemeClr val="tx1"/>
            </a:solidFill>
          </a:ln>
        </p:spPr>
        <p:txBody>
          <a:bodyPr wrap="square">
            <a:spAutoFit/>
          </a:bodyPr>
          <a:lstStyle/>
          <a:p>
            <a:pPr algn="l" fontAlgn="base" latinLnBrk="1">
              <a:buNone/>
            </a:pPr>
            <a:r>
              <a:rPr lang="en-US" sz="1600" dirty="0"/>
              <a:t>PC1: 43.35%</a:t>
            </a:r>
          </a:p>
          <a:p>
            <a:pPr algn="l" fontAlgn="base" latinLnBrk="1">
              <a:buNone/>
            </a:pPr>
            <a:r>
              <a:rPr lang="en-US" sz="1600" dirty="0"/>
              <a:t>PC2: 19.29%</a:t>
            </a:r>
          </a:p>
          <a:p>
            <a:pPr algn="l" fontAlgn="base" latinLnBrk="1">
              <a:buNone/>
            </a:pPr>
            <a:r>
              <a:rPr lang="en-US" sz="1600" dirty="0"/>
              <a:t>PC3: 10.22%</a:t>
            </a:r>
          </a:p>
          <a:p>
            <a:pPr algn="l" fontAlgn="base" latinLnBrk="1">
              <a:buNone/>
            </a:pPr>
            <a:r>
              <a:rPr lang="en-US" sz="1600" dirty="0"/>
              <a:t>PC4: 5.15%</a:t>
            </a:r>
          </a:p>
          <a:p>
            <a:pPr algn="l" fontAlgn="base" latinLnBrk="1">
              <a:buNone/>
            </a:pPr>
            <a:r>
              <a:rPr lang="en-US" sz="1600" dirty="0"/>
              <a:t>PC5: 4.17%</a:t>
            </a:r>
          </a:p>
          <a:p>
            <a:pPr algn="l" fontAlgn="base" latinLnBrk="1">
              <a:buNone/>
            </a:pPr>
            <a:r>
              <a:rPr lang="en-US" sz="1600" dirty="0"/>
              <a:t>PC6: 2.47%</a:t>
            </a:r>
          </a:p>
          <a:p>
            <a:pPr algn="l" fontAlgn="base" latinLnBrk="1">
              <a:buNone/>
            </a:pPr>
            <a:r>
              <a:rPr lang="en-US" sz="1600" dirty="0"/>
              <a:t>PC7: 2.20%</a:t>
            </a:r>
          </a:p>
          <a:p>
            <a:pPr algn="l" fontAlgn="base" latinLnBrk="1">
              <a:buNone/>
            </a:pPr>
            <a:r>
              <a:rPr lang="en-US" sz="1600" dirty="0"/>
              <a:t>PC8: 1.69%</a:t>
            </a:r>
          </a:p>
          <a:p>
            <a:pPr algn="l" fontAlgn="base" latinLnBrk="1">
              <a:buNone/>
            </a:pPr>
            <a:r>
              <a:rPr lang="en-US" sz="1600" dirty="0"/>
              <a:t>PC9: 1.28%</a:t>
            </a:r>
          </a:p>
          <a:p>
            <a:pPr algn="l" fontAlgn="base" latinLnBrk="1">
              <a:buNone/>
            </a:pPr>
            <a:r>
              <a:rPr lang="en-US" sz="1600" dirty="0"/>
              <a:t>PC10: 1.07%</a:t>
            </a:r>
          </a:p>
        </p:txBody>
      </p:sp>
      <p:sp>
        <p:nvSpPr>
          <p:cNvPr id="7" name="TextBox 6">
            <a:extLst>
              <a:ext uri="{FF2B5EF4-FFF2-40B4-BE49-F238E27FC236}">
                <a16:creationId xmlns:a16="http://schemas.microsoft.com/office/drawing/2014/main" id="{8D87846C-F05E-C702-62FB-422C872EAB93}"/>
              </a:ext>
            </a:extLst>
          </p:cNvPr>
          <p:cNvSpPr txBox="1"/>
          <p:nvPr/>
        </p:nvSpPr>
        <p:spPr>
          <a:xfrm>
            <a:off x="667820" y="3779854"/>
            <a:ext cx="10856360" cy="1477328"/>
          </a:xfrm>
          <a:prstGeom prst="rect">
            <a:avLst/>
          </a:prstGeom>
          <a:noFill/>
        </p:spPr>
        <p:txBody>
          <a:bodyPr wrap="square" rtlCol="0">
            <a:spAutoFit/>
          </a:bodyPr>
          <a:lstStyle/>
          <a:p>
            <a:pPr algn="just"/>
            <a:r>
              <a:rPr lang="en-US" dirty="0"/>
              <a:t>The cumulative variance analysis revealed that DMFC activity occupies a low-dimensional manifold, with approximately 73% of neural variance captured by the first three principal components and nearly 90% captured by the first ten components. These findings indicate that interval reproduction is governed by coordinated population dynamics rather than independent neuronal responses, supporting that temporal information is encoded through low-dimensional neural trajectories.</a:t>
            </a:r>
          </a:p>
        </p:txBody>
      </p:sp>
    </p:spTree>
    <p:extLst>
      <p:ext uri="{BB962C8B-B14F-4D97-AF65-F5344CB8AC3E}">
        <p14:creationId xmlns:p14="http://schemas.microsoft.com/office/powerpoint/2010/main" val="30030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ED8C0-DD42-8C36-E6AC-0F5289994BB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3C624B0-B10B-D30F-B579-7E65D6279B03}"/>
              </a:ext>
            </a:extLst>
          </p:cNvPr>
          <p:cNvSpPr txBox="1"/>
          <p:nvPr/>
        </p:nvSpPr>
        <p:spPr>
          <a:xfrm>
            <a:off x="123289" y="4580453"/>
            <a:ext cx="4972693" cy="2523768"/>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t>Neighboring intervals showed relatively small distances, whereas intervals separated by larger temporal differences exhibited progressively larger distances. The largest distances were observed between the shortest and longest intervals (480 </a:t>
            </a:r>
            <a:r>
              <a:rPr lang="en-US" sz="1600" dirty="0" err="1"/>
              <a:t>ms</a:t>
            </a:r>
            <a:r>
              <a:rPr lang="en-US" sz="1600" dirty="0"/>
              <a:t> and 1200 </a:t>
            </a:r>
            <a:r>
              <a:rPr lang="en-US" sz="1600" dirty="0" err="1"/>
              <a:t>ms</a:t>
            </a:r>
            <a:r>
              <a:rPr lang="en-US" sz="1600" dirty="0"/>
              <a:t>).</a:t>
            </a:r>
          </a:p>
          <a:p>
            <a:pPr marL="285750" indent="-285750" algn="just">
              <a:buFont typeface="Arial" panose="020B0604020202020204" pitchFamily="34" charset="0"/>
              <a:buChar char="•"/>
            </a:pPr>
            <a:r>
              <a:rPr lang="en-US" sz="1600" dirty="0"/>
              <a:t>Similar interval durations occupied nearby regions of latent space, while increasingly different intervals became progressively separated.</a:t>
            </a:r>
          </a:p>
          <a:p>
            <a:pPr algn="just"/>
            <a:endParaRPr lang="en-US" sz="1400" dirty="0"/>
          </a:p>
        </p:txBody>
      </p:sp>
      <p:pic>
        <p:nvPicPr>
          <p:cNvPr id="3" name="Picture 2">
            <a:extLst>
              <a:ext uri="{FF2B5EF4-FFF2-40B4-BE49-F238E27FC236}">
                <a16:creationId xmlns:a16="http://schemas.microsoft.com/office/drawing/2014/main" id="{93F46B83-AC4C-C505-D6DD-8F474A965A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143" y="321635"/>
            <a:ext cx="4258897" cy="37405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75493801-6ECE-FF6A-DBBA-0B7C30EC7BB7}"/>
              </a:ext>
            </a:extLst>
          </p:cNvPr>
          <p:cNvSpPr txBox="1"/>
          <p:nvPr/>
        </p:nvSpPr>
        <p:spPr>
          <a:xfrm>
            <a:off x="684943" y="4198541"/>
            <a:ext cx="3256908" cy="338554"/>
          </a:xfrm>
          <a:prstGeom prst="rect">
            <a:avLst/>
          </a:prstGeom>
          <a:solidFill>
            <a:schemeClr val="accent4">
              <a:lumMod val="20000"/>
              <a:lumOff val="80000"/>
            </a:schemeClr>
          </a:solidFill>
        </p:spPr>
        <p:txBody>
          <a:bodyPr wrap="square" rtlCol="0">
            <a:spAutoFit/>
          </a:bodyPr>
          <a:lstStyle/>
          <a:p>
            <a:r>
              <a:rPr lang="en-US" sz="1600" dirty="0"/>
              <a:t>R² = 0.7359914030413754</a:t>
            </a:r>
            <a:endParaRPr lang="en-US" sz="1600" b="1" dirty="0"/>
          </a:p>
        </p:txBody>
      </p:sp>
      <p:pic>
        <p:nvPicPr>
          <p:cNvPr id="7" name="Picture 6">
            <a:extLst>
              <a:ext uri="{FF2B5EF4-FFF2-40B4-BE49-F238E27FC236}">
                <a16:creationId xmlns:a16="http://schemas.microsoft.com/office/drawing/2014/main" id="{7DB35A7D-4BCB-C8EF-C63D-1D5B74A228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5439" y="321635"/>
            <a:ext cx="5806075" cy="53386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DDC8AD83-E0CB-F839-A342-AD7FA8A738E2}"/>
              </a:ext>
            </a:extLst>
          </p:cNvPr>
          <p:cNvSpPr txBox="1"/>
          <p:nvPr/>
        </p:nvSpPr>
        <p:spPr>
          <a:xfrm>
            <a:off x="5628956" y="5842337"/>
            <a:ext cx="4388348" cy="923330"/>
          </a:xfrm>
          <a:prstGeom prst="rect">
            <a:avLst/>
          </a:prstGeom>
          <a:solidFill>
            <a:schemeClr val="accent5">
              <a:lumMod val="20000"/>
              <a:lumOff val="80000"/>
            </a:schemeClr>
          </a:solidFill>
        </p:spPr>
        <p:txBody>
          <a:bodyPr wrap="square" rtlCol="0">
            <a:spAutoFit/>
          </a:bodyPr>
          <a:lstStyle/>
          <a:p>
            <a:pPr algn="ctr"/>
            <a:r>
              <a:rPr lang="en-US" dirty="0"/>
              <a:t>The eye-related timing representation is relatively stable across Measurement and Production epochs</a:t>
            </a:r>
          </a:p>
        </p:txBody>
      </p:sp>
      <p:sp>
        <p:nvSpPr>
          <p:cNvPr id="11" name="Oval 10">
            <a:extLst>
              <a:ext uri="{FF2B5EF4-FFF2-40B4-BE49-F238E27FC236}">
                <a16:creationId xmlns:a16="http://schemas.microsoft.com/office/drawing/2014/main" id="{BD510FC2-D1CE-BA64-CC9F-2DE0DC32494D}"/>
              </a:ext>
            </a:extLst>
          </p:cNvPr>
          <p:cNvSpPr/>
          <p:nvPr/>
        </p:nvSpPr>
        <p:spPr>
          <a:xfrm>
            <a:off x="10158894" y="5012093"/>
            <a:ext cx="1945239" cy="166048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apple-system-body"/>
            </a:endParaRPr>
          </a:p>
          <a:p>
            <a:pPr algn="ctr"/>
            <a:r>
              <a:rPr lang="en-US" sz="1400" dirty="0">
                <a:solidFill>
                  <a:schemeClr val="tx1"/>
                </a:solidFill>
                <a:latin typeface="-apple-system-body"/>
              </a:rPr>
              <a:t>Hand-related activity carries more direction-specific information than Eye-related activity</a:t>
            </a:r>
            <a:endParaRPr lang="en-US" sz="1400" dirty="0">
              <a:solidFill>
                <a:schemeClr val="tx1"/>
              </a:solidFill>
            </a:endParaRPr>
          </a:p>
          <a:p>
            <a:pPr algn="ctr"/>
            <a:endParaRPr lang="en-US" dirty="0"/>
          </a:p>
        </p:txBody>
      </p:sp>
    </p:spTree>
    <p:extLst>
      <p:ext uri="{BB962C8B-B14F-4D97-AF65-F5344CB8AC3E}">
        <p14:creationId xmlns:p14="http://schemas.microsoft.com/office/powerpoint/2010/main" val="2862263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6114B-20F8-26AA-4BBD-0F153CB81AC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088CE89-A708-32F7-4EFB-C17BC289B3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394" y="461821"/>
            <a:ext cx="3630835" cy="38841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64ED6CD1-775B-CA34-ED94-8B7C79A7A6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1871" y="2606149"/>
            <a:ext cx="3644529" cy="38871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F6D2A3CD-9557-1614-8F58-885D2470F082}"/>
              </a:ext>
            </a:extLst>
          </p:cNvPr>
          <p:cNvSpPr txBox="1"/>
          <p:nvPr/>
        </p:nvSpPr>
        <p:spPr>
          <a:xfrm>
            <a:off x="316914" y="90"/>
            <a:ext cx="6375142" cy="369332"/>
          </a:xfrm>
          <a:prstGeom prst="rect">
            <a:avLst/>
          </a:prstGeom>
          <a:noFill/>
        </p:spPr>
        <p:txBody>
          <a:bodyPr wrap="square" rtlCol="0">
            <a:spAutoFit/>
          </a:bodyPr>
          <a:lstStyle/>
          <a:p>
            <a:r>
              <a:rPr lang="en-US" b="1" dirty="0"/>
              <a:t>Supporting figures</a:t>
            </a:r>
            <a:endParaRPr lang="en-US" dirty="0"/>
          </a:p>
        </p:txBody>
      </p:sp>
      <p:pic>
        <p:nvPicPr>
          <p:cNvPr id="2" name="Picture 1">
            <a:extLst>
              <a:ext uri="{FF2B5EF4-FFF2-40B4-BE49-F238E27FC236}">
                <a16:creationId xmlns:a16="http://schemas.microsoft.com/office/drawing/2014/main" id="{95620C90-544C-B318-99AA-F3D1F0D589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99042" y="843654"/>
            <a:ext cx="3983031" cy="23083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a:extLst>
              <a:ext uri="{FF2B5EF4-FFF2-40B4-BE49-F238E27FC236}">
                <a16:creationId xmlns:a16="http://schemas.microsoft.com/office/drawing/2014/main" id="{4559C9B3-44DA-2E3E-BD26-061CF02B04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68294" y="3362701"/>
            <a:ext cx="3644529" cy="34057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TextBox 10">
            <a:extLst>
              <a:ext uri="{FF2B5EF4-FFF2-40B4-BE49-F238E27FC236}">
                <a16:creationId xmlns:a16="http://schemas.microsoft.com/office/drawing/2014/main" id="{632EDC39-B392-0892-2832-3C3B3296F832}"/>
              </a:ext>
            </a:extLst>
          </p:cNvPr>
          <p:cNvSpPr txBox="1"/>
          <p:nvPr/>
        </p:nvSpPr>
        <p:spPr>
          <a:xfrm>
            <a:off x="7756989" y="133654"/>
            <a:ext cx="3955834" cy="584775"/>
          </a:xfrm>
          <a:prstGeom prst="rect">
            <a:avLst/>
          </a:prstGeom>
          <a:solidFill>
            <a:schemeClr val="accent4">
              <a:lumMod val="20000"/>
              <a:lumOff val="80000"/>
            </a:schemeClr>
          </a:solidFill>
        </p:spPr>
        <p:txBody>
          <a:bodyPr wrap="square" rtlCol="0">
            <a:spAutoFit/>
          </a:bodyPr>
          <a:lstStyle/>
          <a:p>
            <a:pPr algn="ctr"/>
            <a:r>
              <a:rPr lang="en-US" sz="1600" dirty="0"/>
              <a:t>Percentage of timing-responsive neurons that scale (&gt; 1.0): 71.4%</a:t>
            </a:r>
          </a:p>
        </p:txBody>
      </p:sp>
      <p:sp>
        <p:nvSpPr>
          <p:cNvPr id="12" name="Oval 11">
            <a:extLst>
              <a:ext uri="{FF2B5EF4-FFF2-40B4-BE49-F238E27FC236}">
                <a16:creationId xmlns:a16="http://schemas.microsoft.com/office/drawing/2014/main" id="{E2DC392D-1CCA-9379-0431-51858C15340B}"/>
              </a:ext>
            </a:extLst>
          </p:cNvPr>
          <p:cNvSpPr/>
          <p:nvPr/>
        </p:nvSpPr>
        <p:spPr>
          <a:xfrm>
            <a:off x="1068512" y="4633645"/>
            <a:ext cx="2611465" cy="2134837"/>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t>temporal information is represented through interval-dependent neural dynamics</a:t>
            </a:r>
          </a:p>
        </p:txBody>
      </p:sp>
      <p:sp>
        <p:nvSpPr>
          <p:cNvPr id="13" name="Oval 12">
            <a:extLst>
              <a:ext uri="{FF2B5EF4-FFF2-40B4-BE49-F238E27FC236}">
                <a16:creationId xmlns:a16="http://schemas.microsoft.com/office/drawing/2014/main" id="{92662873-D2F2-A5B8-9032-6FA823C2B57E}"/>
              </a:ext>
            </a:extLst>
          </p:cNvPr>
          <p:cNvSpPr/>
          <p:nvPr/>
        </p:nvSpPr>
        <p:spPr>
          <a:xfrm>
            <a:off x="4435012" y="277402"/>
            <a:ext cx="3065123" cy="2042191"/>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dirty="0"/>
              <a:t>interval reproduction is associated with progressive evolution of neural population dynamics rather than static representations of elapsed time</a:t>
            </a:r>
          </a:p>
        </p:txBody>
      </p:sp>
      <p:sp>
        <p:nvSpPr>
          <p:cNvPr id="14" name="Arc 13">
            <a:extLst>
              <a:ext uri="{FF2B5EF4-FFF2-40B4-BE49-F238E27FC236}">
                <a16:creationId xmlns:a16="http://schemas.microsoft.com/office/drawing/2014/main" id="{154CC19E-E333-40D1-C773-EE411D481019}"/>
              </a:ext>
            </a:extLst>
          </p:cNvPr>
          <p:cNvSpPr/>
          <p:nvPr/>
        </p:nvSpPr>
        <p:spPr>
          <a:xfrm rot="9953789">
            <a:off x="436893" y="3217400"/>
            <a:ext cx="813445" cy="2235009"/>
          </a:xfrm>
          <a:prstGeom prst="arc">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5" name="Arc 14">
            <a:extLst>
              <a:ext uri="{FF2B5EF4-FFF2-40B4-BE49-F238E27FC236}">
                <a16:creationId xmlns:a16="http://schemas.microsoft.com/office/drawing/2014/main" id="{D17FC6F9-6693-5753-05D8-0522D121DD7C}"/>
              </a:ext>
            </a:extLst>
          </p:cNvPr>
          <p:cNvSpPr/>
          <p:nvPr/>
        </p:nvSpPr>
        <p:spPr>
          <a:xfrm rot="1329551">
            <a:off x="6667124" y="1286391"/>
            <a:ext cx="813445" cy="2235009"/>
          </a:xfrm>
          <a:prstGeom prst="arc">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157770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9833FF-127D-8E70-288B-F54AC59910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813" y="195234"/>
            <a:ext cx="3648283" cy="30274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A743C1DE-13C7-7DB7-FA44-47E772B636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8696" y="195234"/>
            <a:ext cx="3763906" cy="30274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ACF87F28-C765-DA33-7338-3A0594879C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213" y="3429000"/>
            <a:ext cx="3856914" cy="32337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3B76E0C5-4084-9534-5B4D-945764954A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61382" y="3406794"/>
            <a:ext cx="3763906" cy="32559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B0C425B4-1317-552A-D562-0A7F9FECAE74}"/>
              </a:ext>
            </a:extLst>
          </p:cNvPr>
          <p:cNvSpPr txBox="1"/>
          <p:nvPr/>
        </p:nvSpPr>
        <p:spPr>
          <a:xfrm>
            <a:off x="8058186" y="2427917"/>
            <a:ext cx="3713855" cy="1323439"/>
          </a:xfrm>
          <a:prstGeom prst="rect">
            <a:avLst/>
          </a:prstGeom>
          <a:solidFill>
            <a:schemeClr val="accent5">
              <a:lumMod val="20000"/>
              <a:lumOff val="80000"/>
            </a:schemeClr>
          </a:solidFill>
        </p:spPr>
        <p:txBody>
          <a:bodyPr wrap="square" rtlCol="0">
            <a:spAutoFit/>
          </a:bodyPr>
          <a:lstStyle/>
          <a:p>
            <a:pPr algn="ctr"/>
            <a:r>
              <a:rPr lang="en-US" sz="1600" dirty="0"/>
              <a:t>Supports - temporal information is represented through internally generated low-dimensional neural dynamics rather than static sensory or stimulus-locked activity patterns.</a:t>
            </a:r>
          </a:p>
        </p:txBody>
      </p:sp>
    </p:spTree>
    <p:extLst>
      <p:ext uri="{BB962C8B-B14F-4D97-AF65-F5344CB8AC3E}">
        <p14:creationId xmlns:p14="http://schemas.microsoft.com/office/powerpoint/2010/main" val="3096425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595A5C-6C92-0C53-B37C-75D8CF3FF177}"/>
              </a:ext>
            </a:extLst>
          </p:cNvPr>
          <p:cNvPicPr>
            <a:picLocks noChangeAspect="1"/>
          </p:cNvPicPr>
          <p:nvPr/>
        </p:nvPicPr>
        <p:blipFill>
          <a:blip r:embed="rId2"/>
          <a:stretch>
            <a:fillRect/>
          </a:stretch>
        </p:blipFill>
        <p:spPr>
          <a:xfrm>
            <a:off x="569861" y="4441198"/>
            <a:ext cx="10458016" cy="2321039"/>
          </a:xfrm>
          <a:prstGeom prst="rect">
            <a:avLst/>
          </a:prstGeom>
        </p:spPr>
      </p:pic>
      <p:pic>
        <p:nvPicPr>
          <p:cNvPr id="5" name="Picture 4">
            <a:extLst>
              <a:ext uri="{FF2B5EF4-FFF2-40B4-BE49-F238E27FC236}">
                <a16:creationId xmlns:a16="http://schemas.microsoft.com/office/drawing/2014/main" id="{AB13BCFC-3B5E-EDE7-198E-9C79DE5451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0480" y="569724"/>
            <a:ext cx="9236778" cy="1817585"/>
          </a:xfrm>
          <a:prstGeom prst="rect">
            <a:avLst/>
          </a:prstGeom>
        </p:spPr>
      </p:pic>
      <p:pic>
        <p:nvPicPr>
          <p:cNvPr id="7" name="Picture 6">
            <a:extLst>
              <a:ext uri="{FF2B5EF4-FFF2-40B4-BE49-F238E27FC236}">
                <a16:creationId xmlns:a16="http://schemas.microsoft.com/office/drawing/2014/main" id="{23A5D023-FF2A-0EF1-63FE-68A802785E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0480" y="2522716"/>
            <a:ext cx="9236778" cy="1844217"/>
          </a:xfrm>
          <a:prstGeom prst="rect">
            <a:avLst/>
          </a:prstGeom>
        </p:spPr>
      </p:pic>
      <p:sp>
        <p:nvSpPr>
          <p:cNvPr id="8" name="TextBox 7">
            <a:extLst>
              <a:ext uri="{FF2B5EF4-FFF2-40B4-BE49-F238E27FC236}">
                <a16:creationId xmlns:a16="http://schemas.microsoft.com/office/drawing/2014/main" id="{D59FB9F1-0F3C-D03F-1D46-B84C01AD8492}"/>
              </a:ext>
            </a:extLst>
          </p:cNvPr>
          <p:cNvSpPr txBox="1"/>
          <p:nvPr/>
        </p:nvSpPr>
        <p:spPr>
          <a:xfrm>
            <a:off x="1236323" y="156905"/>
            <a:ext cx="9719353" cy="338554"/>
          </a:xfrm>
          <a:prstGeom prst="rect">
            <a:avLst/>
          </a:prstGeom>
          <a:noFill/>
        </p:spPr>
        <p:txBody>
          <a:bodyPr wrap="square" rtlCol="0">
            <a:spAutoFit/>
          </a:bodyPr>
          <a:lstStyle/>
          <a:p>
            <a:r>
              <a:rPr lang="en-US" sz="1600" b="1" dirty="0"/>
              <a:t>Across all trials where the sample interval was 800 </a:t>
            </a:r>
            <a:r>
              <a:rPr lang="en-US" sz="1600" b="1" dirty="0" err="1"/>
              <a:t>ms</a:t>
            </a:r>
            <a:r>
              <a:rPr lang="en-US" sz="1600" b="1" dirty="0"/>
              <a:t>, how were the produced intervals distributed?</a:t>
            </a:r>
          </a:p>
        </p:txBody>
      </p:sp>
    </p:spTree>
    <p:extLst>
      <p:ext uri="{BB962C8B-B14F-4D97-AF65-F5344CB8AC3E}">
        <p14:creationId xmlns:p14="http://schemas.microsoft.com/office/powerpoint/2010/main" val="3877683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E326DA-17D8-19CD-4BC6-ABE340795B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096" y="274246"/>
            <a:ext cx="4962177" cy="283211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16DA2492-FDB6-AE08-266B-C0DDB8C20D25}"/>
              </a:ext>
            </a:extLst>
          </p:cNvPr>
          <p:cNvSpPr txBox="1"/>
          <p:nvPr/>
        </p:nvSpPr>
        <p:spPr>
          <a:xfrm>
            <a:off x="4952145" y="5650428"/>
            <a:ext cx="7104880" cy="1077218"/>
          </a:xfrm>
          <a:prstGeom prst="rect">
            <a:avLst/>
          </a:prstGeom>
          <a:noFill/>
        </p:spPr>
        <p:txBody>
          <a:bodyPr wrap="square" rtlCol="0">
            <a:spAutoFit/>
          </a:bodyPr>
          <a:lstStyle/>
          <a:p>
            <a:pPr algn="just"/>
            <a:r>
              <a:rPr lang="en-US" sz="1600" dirty="0"/>
              <a:t>Neural speed is negatively correlated with the sampling interval. However, this trend only appears to hold within the short or long prior conditions. This aligns with the observation that single-neuron responses and neural trajectories are most similar within the same prior.</a:t>
            </a:r>
          </a:p>
        </p:txBody>
      </p:sp>
      <p:pic>
        <p:nvPicPr>
          <p:cNvPr id="9" name="Picture 8">
            <a:extLst>
              <a:ext uri="{FF2B5EF4-FFF2-40B4-BE49-F238E27FC236}">
                <a16:creationId xmlns:a16="http://schemas.microsoft.com/office/drawing/2014/main" id="{9D937F14-1A01-F2FD-6141-2B544CEA7D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1176" y="130354"/>
            <a:ext cx="5829157" cy="5263525"/>
          </a:xfrm>
          <a:prstGeom prst="rect">
            <a:avLst/>
          </a:prstGeom>
        </p:spPr>
      </p:pic>
      <p:pic>
        <p:nvPicPr>
          <p:cNvPr id="13" name="Picture 12">
            <a:extLst>
              <a:ext uri="{FF2B5EF4-FFF2-40B4-BE49-F238E27FC236}">
                <a16:creationId xmlns:a16="http://schemas.microsoft.com/office/drawing/2014/main" id="{C11E754D-2684-50FF-9B98-8DFD8C317D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676" y="3269831"/>
            <a:ext cx="4164452" cy="34578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03050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612297-EB8D-1441-D958-FD178F6F2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666" y="440641"/>
            <a:ext cx="10588103" cy="59767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A57CF237-6AEC-1F6C-E785-81E7F40C7597}"/>
              </a:ext>
            </a:extLst>
          </p:cNvPr>
          <p:cNvSpPr txBox="1"/>
          <p:nvPr/>
        </p:nvSpPr>
        <p:spPr>
          <a:xfrm>
            <a:off x="6969303" y="6082871"/>
            <a:ext cx="5064031" cy="584775"/>
          </a:xfrm>
          <a:prstGeom prst="rect">
            <a:avLst/>
          </a:prstGeom>
          <a:solidFill>
            <a:schemeClr val="accent4">
              <a:lumMod val="20000"/>
              <a:lumOff val="80000"/>
            </a:schemeClr>
          </a:solidFill>
        </p:spPr>
        <p:txBody>
          <a:bodyPr wrap="square" rtlCol="0">
            <a:spAutoFit/>
          </a:bodyPr>
          <a:lstStyle/>
          <a:p>
            <a:pPr algn="ctr"/>
            <a:r>
              <a:rPr lang="en-US" sz="1600" dirty="0"/>
              <a:t>Average firing rates were computed after aligning spike times to movement initiation time</a:t>
            </a:r>
          </a:p>
        </p:txBody>
      </p:sp>
      <p:sp>
        <p:nvSpPr>
          <p:cNvPr id="6" name="Speech Bubble: Oval 5">
            <a:extLst>
              <a:ext uri="{FF2B5EF4-FFF2-40B4-BE49-F238E27FC236}">
                <a16:creationId xmlns:a16="http://schemas.microsoft.com/office/drawing/2014/main" id="{77147033-5D8F-55BE-F279-38C6B3666BDC}"/>
              </a:ext>
            </a:extLst>
          </p:cNvPr>
          <p:cNvSpPr/>
          <p:nvPr/>
        </p:nvSpPr>
        <p:spPr>
          <a:xfrm>
            <a:off x="10286727" y="904126"/>
            <a:ext cx="1746607" cy="1469204"/>
          </a:xfrm>
          <a:prstGeom prst="wedgeEllipseCallou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top 8 most modulated neurons</a:t>
            </a:r>
            <a:endParaRPr lang="en-US" dirty="0">
              <a:solidFill>
                <a:schemeClr val="tx1"/>
              </a:solidFill>
            </a:endParaRPr>
          </a:p>
        </p:txBody>
      </p:sp>
    </p:spTree>
    <p:extLst>
      <p:ext uri="{BB962C8B-B14F-4D97-AF65-F5344CB8AC3E}">
        <p14:creationId xmlns:p14="http://schemas.microsoft.com/office/powerpoint/2010/main" val="2848289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CB317-B14E-375D-A4F6-D63BCA7B04D8}"/>
              </a:ext>
            </a:extLst>
          </p:cNvPr>
          <p:cNvSpPr txBox="1">
            <a:spLocks/>
          </p:cNvSpPr>
          <p:nvPr/>
        </p:nvSpPr>
        <p:spPr>
          <a:xfrm>
            <a:off x="4513780" y="2663219"/>
            <a:ext cx="3993223" cy="23876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accent1">
                    <a:lumMod val="50000"/>
                  </a:schemeClr>
                </a:solidFill>
              </a:rPr>
              <a:t>THANK YOU </a:t>
            </a:r>
            <a:br>
              <a:rPr lang="en-US" sz="5400" dirty="0"/>
            </a:br>
            <a:endParaRPr lang="en-US" sz="5400" dirty="0"/>
          </a:p>
        </p:txBody>
      </p:sp>
    </p:spTree>
    <p:extLst>
      <p:ext uri="{BB962C8B-B14F-4D97-AF65-F5344CB8AC3E}">
        <p14:creationId xmlns:p14="http://schemas.microsoft.com/office/powerpoint/2010/main" val="23226342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2560</TotalTime>
  <Words>1407</Words>
  <Application>Microsoft Office PowerPoint</Application>
  <PresentationFormat>Widescreen</PresentationFormat>
  <Paragraphs>259</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-apple-system-body</vt:lpstr>
      <vt:lpstr>Arial</vt:lpstr>
      <vt:lpstr>Calibri</vt:lpstr>
      <vt:lpstr>Calibri Light</vt:lpstr>
      <vt:lpstr>Cambria Math</vt:lpstr>
      <vt:lpstr>Google Sans Text</vt:lpstr>
      <vt:lpstr>Times New Roman</vt:lpstr>
      <vt:lpstr>Office Theme</vt:lpstr>
      <vt:lpstr>Dynamics of Neural Population Activity During the Ready–Set–Go Task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Gargi Ghosh</dc:creator>
  <cp:lastModifiedBy>Gargi Ghosh</cp:lastModifiedBy>
  <cp:revision>8</cp:revision>
  <dcterms:created xsi:type="dcterms:W3CDTF">2026-06-22T04:32:16Z</dcterms:created>
  <dcterms:modified xsi:type="dcterms:W3CDTF">2026-07-07T07:45:32Z</dcterms:modified>
</cp:coreProperties>
</file>